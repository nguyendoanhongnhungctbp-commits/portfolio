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12192000"/>
  <p:embeddedFontLst>
    <p:embeddedFont>
      <p:font typeface="Inter"/>
      <p:regular r:id="rId19"/>
      <p:bold r:id="rId20"/>
      <p:italic r:id="rId21"/>
      <p:boldItalic r:id="rId22"/>
    </p:embeddedFont>
    <p:embeddedFont>
      <p:font typeface="Be Vietnam Pr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4E19B90-F44A-4595-9479-59512D2CCDE3}">
  <a:tblStyle styleId="{A4E19B90-F44A-4595-9479-59512D2CCDE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font" Target="fonts/Inter-regular.fntdata"/><Relationship Id="rId20" Type="http://schemas.openxmlformats.org/officeDocument/2006/relationships/font" Target="fonts/Inter-bold.fntdata"/><Relationship Id="rId21" Type="http://schemas.openxmlformats.org/officeDocument/2006/relationships/font" Target="fonts/Inter-italic.fntdata"/><Relationship Id="rId22" Type="http://schemas.openxmlformats.org/officeDocument/2006/relationships/font" Target="fonts/Inter-boldItalic.fntdata"/><Relationship Id="rId23" Type="http://schemas.openxmlformats.org/officeDocument/2006/relationships/font" Target="fonts/BeVietnamPro-regular.fntdata"/><Relationship Id="rId24" Type="http://schemas.openxmlformats.org/officeDocument/2006/relationships/font" Target="fonts/BeVietnamPro-bold.fntdata"/><Relationship Id="rId25" Type="http://schemas.openxmlformats.org/officeDocument/2006/relationships/font" Target="fonts/BeVietnamPro-italic.fntdata"/><Relationship Id="rId26" Type="http://schemas.openxmlformats.org/officeDocument/2006/relationships/font" Target="fonts/BeVietnamPr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PW là nền tảng quốc tế công nhận và xác thực quan hệ đối tác kinh doanh bằng danh hiệu số (NFT) trên blockchain. Bộ slide này giúp người chưa biết dự án nắm được dự án gồm những gì, theo thứ tự: vấn đề, sản phẩm, người dùng, quy tắc, quy trình, màn hình, quản trị, AI, phạm vi, tài liệu.</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Vấn đề theo đề bài: hiện trạng dựa vào lời nói, giấy tờ, bài báo; nguyên nhân là thiếu bằng chứng công khai; tác động là mất tin tưởng. PW đóng vai cơ quan cấp danh hiệu: biến việc công nhận thành NFT bất biến, ai cũng xác minh được.</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slide trả lời câu hỏi dự án gồm những gì. Bảy nhóm chức năng cộng với các dịch vụ bên thứ ba mà PW dùng thay vì tự xây.</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Năm vai trò từ SRS. Điểm kiểm soát quan trọng nhất là KYC.</a:t>
            </a:r>
            <a:endParaRPr/>
          </a:p>
        </p:txBody>
      </p:sp>
      <p:sp>
        <p:nvSpPr>
          <p:cNvPr id="82" name="Google Shape;8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 danh hiệu theo đề bài. Distinction NFT chuyển được một lần; Award NFT là soulbound. Xếp hạng tự động theo tổng số NFT.</a:t>
            </a:r>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 quy tắc tài chính theo đề bài: 8 Class theo nhân sự, giảm 20 phần trăm từ năm thứ 2, điểm 30 phần trăm chia 10/10/10 với 1 CHF = 1 điểm làm tròn lên. Bảng giá và hai ngưỡng (2 năm, 1,000 điểm) là đề xuất của BA.</a:t>
            </a:r>
            <a:endParaRPr/>
          </a:p>
        </p:txBody>
      </p:sp>
      <p:sp>
        <p:nvSpPr>
          <p:cNvPr id="129" name="Google Shape;1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Sơ đồ tổng thể nối các luồng: khách hàng đăng ký và nộp KYC, admin duyệt, hệ thống phân Class; sau đó mua hoặc nhận Award, tạo ví giữ hộ qua Circle, mint NFT trên blockchain, chia điểm; người dùng công khai xác minh NFT.</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Đây là luồng đề bài đánh giá về tính logic. Đi theo thứ tự: kiểm tra KYC người mua, tính giá và giảm giá, thanh toán qua cổng, nếu thiếu ví thì tạo ví giữ hộ qua Circle, mint NFT qua blockchain, gán cho người nhận, chia điểm 10/10/10, cập nhật xếp hạng, ghi Audit Log. Có các nhánh lỗi: KYC chưa duyệt, thanh toán thất bại, mint thất bại.</a:t>
            </a:r>
            <a:endParaRPr/>
          </a:p>
        </p:txBody>
      </p:sp>
      <p:sp>
        <p:nvSpPr>
          <p:cNvPr id="190" name="Google Shape;19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Hai mockup đề bài yêu cầu; toàn bộ 45 màn nằm trong file Figma. Dashboard: điểm, hạng, ví, danh hiệu, hoạt động. Public Directory: tìm kiếm, lọc, xếp hạng. Prototype web dùng để kiểm chứng quy tắc trước khi dev; blockchain và thanh toán là giả lập có chủ đích.</a:t>
            </a:r>
            <a:endParaRPr/>
          </a:p>
        </p:txBody>
      </p:sp>
      <p:sp>
        <p:nvSpPr>
          <p:cNvPr id="236" name="Google Shape;23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Admin Portal gồm duyệt KYC, trao Award, thu hồi, chỉnh điểm và Audit Logs. Audit Logs là yêu cầu phi chức năng NFR-002 về toàn vẹn dữ liệu.</a:t>
            </a:r>
            <a:endParaRPr/>
          </a:p>
        </p:txBody>
      </p:sp>
      <p:sp>
        <p:nvSpPr>
          <p:cNvPr id="250" name="Google Shape;25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AI theo FR-030 của BRD. Sơ đồ D7b là luồng thực tế đề xuất (RAG kết hợp hàm đọc dữ liệu sống). Số liệu như điểm, NFT, hạng luôn lấy từ cơ sở dữ liệu, không để mô hình tự nói.</a:t>
            </a:r>
            <a:endParaRPr/>
          </a:p>
        </p:txBody>
      </p:sp>
      <p:sp>
        <p:nvSpPr>
          <p:cNvPr id="265" name="Google Shape;26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Dịch vụ bên ngoài và phạm vi lấy từ BRD mục 3 và SRS. Thanh toán chỉ bằng thẻ; không có chợ mua bán lại NFT.</a:t>
            </a:r>
            <a:endParaRPr/>
          </a:p>
        </p:txBody>
      </p:sp>
      <p:sp>
        <p:nvSpPr>
          <p:cNvPr id="302" name="Google Shape;30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Bốn đầu ra đề bài yêu cầu: BRD và SRS, sơ đồ To-be, mockup, UAT Checklist. Cảm ơn và mở phần hỏi đáp.</a:t>
            </a:r>
            <a:endParaRPr/>
          </a:p>
        </p:txBody>
      </p:sp>
      <p:sp>
        <p:nvSpPr>
          <p:cNvPr id="319" name="Google Shape;31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background 1">
  <p:cSld name="Slide background 1">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812800" y="81280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E7ECF8"/>
              </a:buClr>
              <a:buSzPts val="3200"/>
              <a:buFont typeface="Be Vietnam Pro"/>
              <a:buNone/>
              <a:defRPr sz="3200">
                <a:solidFill>
                  <a:srgbClr val="E7ECF8"/>
                </a:solidFill>
                <a:latin typeface="Be Vietnam Pro"/>
                <a:ea typeface="Be Vietnam Pro"/>
                <a:cs typeface="Be Vietnam Pro"/>
                <a:sym typeface="Be Vietnam Pro"/>
              </a:defRPr>
            </a:lvl1pPr>
            <a:lvl2pPr lvl="1">
              <a:spcBef>
                <a:spcPts val="0"/>
              </a:spcBef>
              <a:spcAft>
                <a:spcPts val="0"/>
              </a:spcAft>
              <a:buSzPts val="1400"/>
              <a:buFont typeface="Be Vietnam Pro"/>
              <a:buNone/>
              <a:defRPr>
                <a:latin typeface="Be Vietnam Pro"/>
                <a:ea typeface="Be Vietnam Pro"/>
                <a:cs typeface="Be Vietnam Pro"/>
                <a:sym typeface="Be Vietnam Pro"/>
              </a:defRPr>
            </a:lvl2pPr>
            <a:lvl3pPr lvl="2">
              <a:spcBef>
                <a:spcPts val="0"/>
              </a:spcBef>
              <a:spcAft>
                <a:spcPts val="0"/>
              </a:spcAft>
              <a:buSzPts val="1400"/>
              <a:buFont typeface="Be Vietnam Pro"/>
              <a:buNone/>
              <a:defRPr>
                <a:latin typeface="Be Vietnam Pro"/>
                <a:ea typeface="Be Vietnam Pro"/>
                <a:cs typeface="Be Vietnam Pro"/>
                <a:sym typeface="Be Vietnam Pro"/>
              </a:defRPr>
            </a:lvl3pPr>
            <a:lvl4pPr lvl="3">
              <a:spcBef>
                <a:spcPts val="0"/>
              </a:spcBef>
              <a:spcAft>
                <a:spcPts val="0"/>
              </a:spcAft>
              <a:buSzPts val="1400"/>
              <a:buFont typeface="Be Vietnam Pro"/>
              <a:buNone/>
              <a:defRPr>
                <a:latin typeface="Be Vietnam Pro"/>
                <a:ea typeface="Be Vietnam Pro"/>
                <a:cs typeface="Be Vietnam Pro"/>
                <a:sym typeface="Be Vietnam Pro"/>
              </a:defRPr>
            </a:lvl4pPr>
            <a:lvl5pPr lvl="4">
              <a:spcBef>
                <a:spcPts val="0"/>
              </a:spcBef>
              <a:spcAft>
                <a:spcPts val="0"/>
              </a:spcAft>
              <a:buSzPts val="1400"/>
              <a:buFont typeface="Be Vietnam Pro"/>
              <a:buNone/>
              <a:defRPr>
                <a:latin typeface="Be Vietnam Pro"/>
                <a:ea typeface="Be Vietnam Pro"/>
                <a:cs typeface="Be Vietnam Pro"/>
                <a:sym typeface="Be Vietnam Pro"/>
              </a:defRPr>
            </a:lvl5pPr>
            <a:lvl6pPr lvl="5">
              <a:spcBef>
                <a:spcPts val="0"/>
              </a:spcBef>
              <a:spcAft>
                <a:spcPts val="0"/>
              </a:spcAft>
              <a:buSzPts val="1400"/>
              <a:buFont typeface="Be Vietnam Pro"/>
              <a:buNone/>
              <a:defRPr>
                <a:latin typeface="Be Vietnam Pro"/>
                <a:ea typeface="Be Vietnam Pro"/>
                <a:cs typeface="Be Vietnam Pro"/>
                <a:sym typeface="Be Vietnam Pro"/>
              </a:defRPr>
            </a:lvl6pPr>
            <a:lvl7pPr lvl="6">
              <a:spcBef>
                <a:spcPts val="0"/>
              </a:spcBef>
              <a:spcAft>
                <a:spcPts val="0"/>
              </a:spcAft>
              <a:buSzPts val="1400"/>
              <a:buFont typeface="Be Vietnam Pro"/>
              <a:buNone/>
              <a:defRPr>
                <a:latin typeface="Be Vietnam Pro"/>
                <a:ea typeface="Be Vietnam Pro"/>
                <a:cs typeface="Be Vietnam Pro"/>
                <a:sym typeface="Be Vietnam Pro"/>
              </a:defRPr>
            </a:lvl7pPr>
            <a:lvl8pPr lvl="7">
              <a:spcBef>
                <a:spcPts val="0"/>
              </a:spcBef>
              <a:spcAft>
                <a:spcPts val="0"/>
              </a:spcAft>
              <a:buSzPts val="1400"/>
              <a:buFont typeface="Be Vietnam Pro"/>
              <a:buNone/>
              <a:defRPr>
                <a:latin typeface="Be Vietnam Pro"/>
                <a:ea typeface="Be Vietnam Pro"/>
                <a:cs typeface="Be Vietnam Pro"/>
                <a:sym typeface="Be Vietnam Pro"/>
              </a:defRPr>
            </a:lvl8pPr>
            <a:lvl9pPr lvl="8">
              <a:spcBef>
                <a:spcPts val="0"/>
              </a:spcBef>
              <a:spcAft>
                <a:spcPts val="0"/>
              </a:spcAft>
              <a:buSzPts val="1400"/>
              <a:buFont typeface="Be Vietnam Pro"/>
              <a:buNone/>
              <a:defRPr>
                <a:latin typeface="Be Vietnam Pro"/>
                <a:ea typeface="Be Vietnam Pro"/>
                <a:cs typeface="Be Vietnam Pro"/>
                <a:sym typeface="Be Vietnam Pro"/>
              </a:defRPr>
            </a:lvl9pPr>
          </a:lstStyle>
          <a:p/>
        </p:txBody>
      </p:sp>
      <p:sp>
        <p:nvSpPr>
          <p:cNvPr id="14" name="Google Shape;14;p2"/>
          <p:cNvSpPr txBox="1"/>
          <p:nvPr>
            <p:ph idx="1" type="body"/>
          </p:nvPr>
        </p:nvSpPr>
        <p:spPr>
          <a:xfrm>
            <a:off x="812800" y="1564630"/>
            <a:ext cx="10566400" cy="448057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E7ECF8"/>
              </a:buClr>
              <a:buSzPts val="1600"/>
              <a:buFont typeface="Be Vietnam Pro"/>
              <a:buNone/>
              <a:defRPr sz="1600">
                <a:solidFill>
                  <a:srgbClr val="E7ECF8"/>
                </a:solidFill>
                <a:latin typeface="Be Vietnam Pro"/>
                <a:ea typeface="Be Vietnam Pro"/>
                <a:cs typeface="Be Vietnam Pro"/>
                <a:sym typeface="Be Vietnam Pro"/>
              </a:defRPr>
            </a:lvl1pPr>
            <a:lvl2pPr indent="-342900" lvl="1" marL="9144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2pPr>
            <a:lvl3pPr indent="-342900" lvl="2" marL="13716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3pPr>
            <a:lvl4pPr indent="-342900" lvl="3" marL="18288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4pPr>
            <a:lvl5pPr indent="-342900" lvl="4" marL="22860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5pPr>
            <a:lvl6pPr indent="-342900" lvl="5" marL="27432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6pPr>
            <a:lvl7pPr indent="-342900" lvl="6" marL="32004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7pPr>
            <a:lvl8pPr indent="-342900" lvl="7" marL="36576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8pPr>
            <a:lvl9pPr indent="-342900" lvl="8" marL="41148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0D1220"/>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812800" y="81280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E7ECF8"/>
              </a:buClr>
              <a:buSzPts val="3200"/>
              <a:buFont typeface="Be Vietnam Pro"/>
              <a:buNone/>
              <a:defRPr sz="3200">
                <a:solidFill>
                  <a:srgbClr val="E7ECF8"/>
                </a:solidFill>
                <a:latin typeface="Be Vietnam Pro"/>
                <a:ea typeface="Be Vietnam Pro"/>
                <a:cs typeface="Be Vietnam Pro"/>
                <a:sym typeface="Be Vietnam Pro"/>
              </a:defRPr>
            </a:lvl1pPr>
            <a:lvl2pPr lvl="1">
              <a:spcBef>
                <a:spcPts val="0"/>
              </a:spcBef>
              <a:spcAft>
                <a:spcPts val="0"/>
              </a:spcAft>
              <a:buSzPts val="1400"/>
              <a:buFont typeface="Be Vietnam Pro"/>
              <a:buNone/>
              <a:defRPr>
                <a:latin typeface="Be Vietnam Pro"/>
                <a:ea typeface="Be Vietnam Pro"/>
                <a:cs typeface="Be Vietnam Pro"/>
                <a:sym typeface="Be Vietnam Pro"/>
              </a:defRPr>
            </a:lvl2pPr>
            <a:lvl3pPr lvl="2">
              <a:spcBef>
                <a:spcPts val="0"/>
              </a:spcBef>
              <a:spcAft>
                <a:spcPts val="0"/>
              </a:spcAft>
              <a:buSzPts val="1400"/>
              <a:buFont typeface="Be Vietnam Pro"/>
              <a:buNone/>
              <a:defRPr>
                <a:latin typeface="Be Vietnam Pro"/>
                <a:ea typeface="Be Vietnam Pro"/>
                <a:cs typeface="Be Vietnam Pro"/>
                <a:sym typeface="Be Vietnam Pro"/>
              </a:defRPr>
            </a:lvl3pPr>
            <a:lvl4pPr lvl="3">
              <a:spcBef>
                <a:spcPts val="0"/>
              </a:spcBef>
              <a:spcAft>
                <a:spcPts val="0"/>
              </a:spcAft>
              <a:buSzPts val="1400"/>
              <a:buFont typeface="Be Vietnam Pro"/>
              <a:buNone/>
              <a:defRPr>
                <a:latin typeface="Be Vietnam Pro"/>
                <a:ea typeface="Be Vietnam Pro"/>
                <a:cs typeface="Be Vietnam Pro"/>
                <a:sym typeface="Be Vietnam Pro"/>
              </a:defRPr>
            </a:lvl4pPr>
            <a:lvl5pPr lvl="4">
              <a:spcBef>
                <a:spcPts val="0"/>
              </a:spcBef>
              <a:spcAft>
                <a:spcPts val="0"/>
              </a:spcAft>
              <a:buSzPts val="1400"/>
              <a:buFont typeface="Be Vietnam Pro"/>
              <a:buNone/>
              <a:defRPr>
                <a:latin typeface="Be Vietnam Pro"/>
                <a:ea typeface="Be Vietnam Pro"/>
                <a:cs typeface="Be Vietnam Pro"/>
                <a:sym typeface="Be Vietnam Pro"/>
              </a:defRPr>
            </a:lvl5pPr>
            <a:lvl6pPr lvl="5">
              <a:spcBef>
                <a:spcPts val="0"/>
              </a:spcBef>
              <a:spcAft>
                <a:spcPts val="0"/>
              </a:spcAft>
              <a:buSzPts val="1400"/>
              <a:buFont typeface="Be Vietnam Pro"/>
              <a:buNone/>
              <a:defRPr>
                <a:latin typeface="Be Vietnam Pro"/>
                <a:ea typeface="Be Vietnam Pro"/>
                <a:cs typeface="Be Vietnam Pro"/>
                <a:sym typeface="Be Vietnam Pro"/>
              </a:defRPr>
            </a:lvl6pPr>
            <a:lvl7pPr lvl="6">
              <a:spcBef>
                <a:spcPts val="0"/>
              </a:spcBef>
              <a:spcAft>
                <a:spcPts val="0"/>
              </a:spcAft>
              <a:buSzPts val="1400"/>
              <a:buFont typeface="Be Vietnam Pro"/>
              <a:buNone/>
              <a:defRPr>
                <a:latin typeface="Be Vietnam Pro"/>
                <a:ea typeface="Be Vietnam Pro"/>
                <a:cs typeface="Be Vietnam Pro"/>
                <a:sym typeface="Be Vietnam Pro"/>
              </a:defRPr>
            </a:lvl7pPr>
            <a:lvl8pPr lvl="7">
              <a:spcBef>
                <a:spcPts val="0"/>
              </a:spcBef>
              <a:spcAft>
                <a:spcPts val="0"/>
              </a:spcAft>
              <a:buSzPts val="1400"/>
              <a:buFont typeface="Be Vietnam Pro"/>
              <a:buNone/>
              <a:defRPr>
                <a:latin typeface="Be Vietnam Pro"/>
                <a:ea typeface="Be Vietnam Pro"/>
                <a:cs typeface="Be Vietnam Pro"/>
                <a:sym typeface="Be Vietnam Pro"/>
              </a:defRPr>
            </a:lvl8pPr>
            <a:lvl9pPr lvl="8">
              <a:spcBef>
                <a:spcPts val="0"/>
              </a:spcBef>
              <a:spcAft>
                <a:spcPts val="0"/>
              </a:spcAft>
              <a:buSzPts val="1400"/>
              <a:buFont typeface="Be Vietnam Pro"/>
              <a:buNone/>
              <a:defRPr>
                <a:latin typeface="Be Vietnam Pro"/>
                <a:ea typeface="Be Vietnam Pro"/>
                <a:cs typeface="Be Vietnam Pro"/>
                <a:sym typeface="Be Vietnam Pro"/>
              </a:defRPr>
            </a:lvl9pPr>
          </a:lstStyle>
          <a:p/>
        </p:txBody>
      </p:sp>
      <p:sp>
        <p:nvSpPr>
          <p:cNvPr id="17" name="Google Shape;17;p3"/>
          <p:cNvSpPr txBox="1"/>
          <p:nvPr>
            <p:ph idx="1" type="body"/>
          </p:nvPr>
        </p:nvSpPr>
        <p:spPr>
          <a:xfrm>
            <a:off x="812800" y="1564630"/>
            <a:ext cx="10566400" cy="448057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E7ECF8"/>
              </a:buClr>
              <a:buSzPts val="1600"/>
              <a:buFont typeface="Be Vietnam Pro"/>
              <a:buNone/>
              <a:defRPr sz="1600">
                <a:solidFill>
                  <a:srgbClr val="E7ECF8"/>
                </a:solidFill>
                <a:latin typeface="Be Vietnam Pro"/>
                <a:ea typeface="Be Vietnam Pro"/>
                <a:cs typeface="Be Vietnam Pro"/>
                <a:sym typeface="Be Vietnam Pro"/>
              </a:defRPr>
            </a:lvl1pPr>
            <a:lvl2pPr indent="-342900" lvl="1" marL="9144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2pPr>
            <a:lvl3pPr indent="-342900" lvl="2" marL="13716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3pPr>
            <a:lvl4pPr indent="-342900" lvl="3" marL="18288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4pPr>
            <a:lvl5pPr indent="-342900" lvl="4" marL="22860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5pPr>
            <a:lvl6pPr indent="-342900" lvl="5" marL="27432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6pPr>
            <a:lvl7pPr indent="-342900" lvl="6" marL="32004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7pPr>
            <a:lvl8pPr indent="-342900" lvl="7" marL="36576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8pPr>
            <a:lvl9pPr indent="-342900" lvl="8" marL="4114800" algn="l">
              <a:spcBef>
                <a:spcPts val="360"/>
              </a:spcBef>
              <a:spcAft>
                <a:spcPts val="0"/>
              </a:spcAft>
              <a:buClr>
                <a:schemeClr val="lt1"/>
              </a:buClr>
              <a:buSzPts val="1800"/>
              <a:buFont typeface="Be Vietnam Pro"/>
              <a:buChar char="•"/>
              <a:defRPr>
                <a:latin typeface="Be Vietnam Pro"/>
                <a:ea typeface="Be Vietnam Pro"/>
                <a:cs typeface="Be Vietnam Pro"/>
                <a:sym typeface="Be Vietnam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dk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800" y="812800"/>
            <a:ext cx="10566400" cy="44703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E7ECF8"/>
              </a:buClr>
              <a:buSzPts val="3200"/>
              <a:buFont typeface="Be Vietnam Pro"/>
              <a:buNone/>
              <a:defRPr i="0" sz="3200" u="none" cap="none" strike="noStrike">
                <a:solidFill>
                  <a:srgbClr val="E7ECF8"/>
                </a:solidFill>
                <a:latin typeface="Be Vietnam Pro"/>
                <a:ea typeface="Be Vietnam Pro"/>
                <a:cs typeface="Be Vietnam Pro"/>
                <a:sym typeface="Be Vietnam Pro"/>
              </a:defRPr>
            </a:lvl1pPr>
            <a:lvl2pPr lvl="1">
              <a:spcBef>
                <a:spcPts val="0"/>
              </a:spcBef>
              <a:spcAft>
                <a:spcPts val="0"/>
              </a:spcAft>
              <a:buSzPts val="1400"/>
              <a:buFont typeface="Be Vietnam Pro"/>
              <a:buNone/>
              <a:defRPr sz="1800">
                <a:latin typeface="Be Vietnam Pro"/>
                <a:ea typeface="Be Vietnam Pro"/>
                <a:cs typeface="Be Vietnam Pro"/>
                <a:sym typeface="Be Vietnam Pro"/>
              </a:defRPr>
            </a:lvl2pPr>
            <a:lvl3pPr lvl="2">
              <a:spcBef>
                <a:spcPts val="0"/>
              </a:spcBef>
              <a:spcAft>
                <a:spcPts val="0"/>
              </a:spcAft>
              <a:buSzPts val="1400"/>
              <a:buFont typeface="Be Vietnam Pro"/>
              <a:buNone/>
              <a:defRPr sz="1800">
                <a:latin typeface="Be Vietnam Pro"/>
                <a:ea typeface="Be Vietnam Pro"/>
                <a:cs typeface="Be Vietnam Pro"/>
                <a:sym typeface="Be Vietnam Pro"/>
              </a:defRPr>
            </a:lvl3pPr>
            <a:lvl4pPr lvl="3">
              <a:spcBef>
                <a:spcPts val="0"/>
              </a:spcBef>
              <a:spcAft>
                <a:spcPts val="0"/>
              </a:spcAft>
              <a:buSzPts val="1400"/>
              <a:buFont typeface="Be Vietnam Pro"/>
              <a:buNone/>
              <a:defRPr sz="1800">
                <a:latin typeface="Be Vietnam Pro"/>
                <a:ea typeface="Be Vietnam Pro"/>
                <a:cs typeface="Be Vietnam Pro"/>
                <a:sym typeface="Be Vietnam Pro"/>
              </a:defRPr>
            </a:lvl4pPr>
            <a:lvl5pPr lvl="4">
              <a:spcBef>
                <a:spcPts val="0"/>
              </a:spcBef>
              <a:spcAft>
                <a:spcPts val="0"/>
              </a:spcAft>
              <a:buSzPts val="1400"/>
              <a:buFont typeface="Be Vietnam Pro"/>
              <a:buNone/>
              <a:defRPr sz="1800">
                <a:latin typeface="Be Vietnam Pro"/>
                <a:ea typeface="Be Vietnam Pro"/>
                <a:cs typeface="Be Vietnam Pro"/>
                <a:sym typeface="Be Vietnam Pro"/>
              </a:defRPr>
            </a:lvl5pPr>
            <a:lvl6pPr lvl="5">
              <a:spcBef>
                <a:spcPts val="0"/>
              </a:spcBef>
              <a:spcAft>
                <a:spcPts val="0"/>
              </a:spcAft>
              <a:buSzPts val="1400"/>
              <a:buFont typeface="Be Vietnam Pro"/>
              <a:buNone/>
              <a:defRPr sz="1800">
                <a:latin typeface="Be Vietnam Pro"/>
                <a:ea typeface="Be Vietnam Pro"/>
                <a:cs typeface="Be Vietnam Pro"/>
                <a:sym typeface="Be Vietnam Pro"/>
              </a:defRPr>
            </a:lvl6pPr>
            <a:lvl7pPr lvl="6">
              <a:spcBef>
                <a:spcPts val="0"/>
              </a:spcBef>
              <a:spcAft>
                <a:spcPts val="0"/>
              </a:spcAft>
              <a:buSzPts val="1400"/>
              <a:buFont typeface="Be Vietnam Pro"/>
              <a:buNone/>
              <a:defRPr sz="1800">
                <a:latin typeface="Be Vietnam Pro"/>
                <a:ea typeface="Be Vietnam Pro"/>
                <a:cs typeface="Be Vietnam Pro"/>
                <a:sym typeface="Be Vietnam Pro"/>
              </a:defRPr>
            </a:lvl7pPr>
            <a:lvl8pPr lvl="7">
              <a:spcBef>
                <a:spcPts val="0"/>
              </a:spcBef>
              <a:spcAft>
                <a:spcPts val="0"/>
              </a:spcAft>
              <a:buSzPts val="1400"/>
              <a:buFont typeface="Be Vietnam Pro"/>
              <a:buNone/>
              <a:defRPr sz="1800">
                <a:latin typeface="Be Vietnam Pro"/>
                <a:ea typeface="Be Vietnam Pro"/>
                <a:cs typeface="Be Vietnam Pro"/>
                <a:sym typeface="Be Vietnam Pro"/>
              </a:defRPr>
            </a:lvl8pPr>
            <a:lvl9pPr lvl="8">
              <a:spcBef>
                <a:spcPts val="0"/>
              </a:spcBef>
              <a:spcAft>
                <a:spcPts val="0"/>
              </a:spcAft>
              <a:buSzPts val="1400"/>
              <a:buFont typeface="Be Vietnam Pro"/>
              <a:buNone/>
              <a:defRPr sz="1800">
                <a:latin typeface="Be Vietnam Pro"/>
                <a:ea typeface="Be Vietnam Pro"/>
                <a:cs typeface="Be Vietnam Pro"/>
                <a:sym typeface="Be Vietnam Pro"/>
              </a:defRPr>
            </a:lvl9pPr>
          </a:lstStyle>
          <a:p/>
        </p:txBody>
      </p:sp>
      <p:sp>
        <p:nvSpPr>
          <p:cNvPr id="11" name="Google Shape;11;p1"/>
          <p:cNvSpPr txBox="1"/>
          <p:nvPr>
            <p:ph idx="1" type="body"/>
          </p:nvPr>
        </p:nvSpPr>
        <p:spPr>
          <a:xfrm>
            <a:off x="812800" y="1564630"/>
            <a:ext cx="10566400" cy="448057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E7ECF8"/>
              </a:buClr>
              <a:buSzPts val="1600"/>
              <a:buFont typeface="Be Vietnam Pro"/>
              <a:buNone/>
              <a:defRPr i="0" sz="1600" u="none" cap="none" strike="noStrike">
                <a:solidFill>
                  <a:srgbClr val="E7ECF8"/>
                </a:solidFill>
                <a:latin typeface="Be Vietnam Pro"/>
                <a:ea typeface="Be Vietnam Pro"/>
                <a:cs typeface="Be Vietnam Pro"/>
                <a:sym typeface="Be Vietnam Pro"/>
              </a:defRPr>
            </a:lvl1pPr>
            <a:lvl2pPr indent="-406400" lvl="1" marL="914400" marR="0" rtl="0" algn="l">
              <a:spcBef>
                <a:spcPts val="560"/>
              </a:spcBef>
              <a:spcAft>
                <a:spcPts val="0"/>
              </a:spcAft>
              <a:buClr>
                <a:schemeClr val="lt1"/>
              </a:buClr>
              <a:buSzPts val="2800"/>
              <a:buFont typeface="Be Vietnam Pro"/>
              <a:buChar char="–"/>
              <a:defRPr i="0" sz="2800" u="none" cap="none" strike="noStrike">
                <a:solidFill>
                  <a:schemeClr val="lt1"/>
                </a:solidFill>
                <a:latin typeface="Be Vietnam Pro"/>
                <a:ea typeface="Be Vietnam Pro"/>
                <a:cs typeface="Be Vietnam Pro"/>
                <a:sym typeface="Be Vietnam Pro"/>
              </a:defRPr>
            </a:lvl2pPr>
            <a:lvl3pPr indent="-381000" lvl="2" marL="1371600" marR="0" rtl="0" algn="l">
              <a:spcBef>
                <a:spcPts val="480"/>
              </a:spcBef>
              <a:spcAft>
                <a:spcPts val="0"/>
              </a:spcAft>
              <a:buClr>
                <a:schemeClr val="lt1"/>
              </a:buClr>
              <a:buSzPts val="2400"/>
              <a:buFont typeface="Be Vietnam Pro"/>
              <a:buChar char="•"/>
              <a:defRPr i="0" sz="2400" u="none" cap="none" strike="noStrike">
                <a:solidFill>
                  <a:schemeClr val="lt1"/>
                </a:solidFill>
                <a:latin typeface="Be Vietnam Pro"/>
                <a:ea typeface="Be Vietnam Pro"/>
                <a:cs typeface="Be Vietnam Pro"/>
                <a:sym typeface="Be Vietnam Pro"/>
              </a:defRPr>
            </a:lvl3pPr>
            <a:lvl4pPr indent="-355600" lvl="3" marL="18288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4pPr>
            <a:lvl5pPr indent="-355600" lvl="4" marL="22860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5pPr>
            <a:lvl6pPr indent="-355600" lvl="5" marL="27432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6pPr>
            <a:lvl7pPr indent="-355600" lvl="6" marL="32004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7pPr>
            <a:lvl8pPr indent="-355600" lvl="7" marL="36576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8pPr>
            <a:lvl9pPr indent="-355600" lvl="8" marL="4114800" marR="0" rtl="0" algn="l">
              <a:spcBef>
                <a:spcPts val="400"/>
              </a:spcBef>
              <a:spcAft>
                <a:spcPts val="0"/>
              </a:spcAft>
              <a:buClr>
                <a:schemeClr val="lt1"/>
              </a:buClr>
              <a:buSzPts val="2000"/>
              <a:buFont typeface="Be Vietnam Pro"/>
              <a:buChar char="•"/>
              <a:defRPr i="0" sz="2000" u="none" cap="none" strike="noStrike">
                <a:solidFill>
                  <a:schemeClr val="lt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jp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5"/>
          <p:cNvSpPr/>
          <p:nvPr/>
        </p:nvSpPr>
        <p:spPr>
          <a:xfrm>
            <a:off x="812800" y="812800"/>
            <a:ext cx="586990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5DFA4"/>
              </a:buClr>
              <a:buSzPts val="1300"/>
              <a:buFont typeface="Inter"/>
              <a:buNone/>
            </a:pPr>
            <a:r>
              <a:rPr b="1" i="0" lang="en-US" sz="1300" u="none" cap="none" strike="noStrike">
                <a:solidFill>
                  <a:srgbClr val="45DFA4"/>
                </a:solidFill>
                <a:latin typeface="Be Vietnam Pro"/>
                <a:ea typeface="Be Vietnam Pro"/>
                <a:cs typeface="Be Vietnam Pro"/>
                <a:sym typeface="Be Vietnam Pro"/>
              </a:rPr>
              <a:t>TỔNG QUAN DỰ ÁN · BÁO CÁO CUỐI KHOÁ ITBA</a:t>
            </a:r>
            <a:endParaRPr i="0" sz="1300" u="none" cap="none" strike="noStrike">
              <a:solidFill>
                <a:schemeClr val="lt1"/>
              </a:solidFill>
              <a:latin typeface="Be Vietnam Pro"/>
              <a:ea typeface="Be Vietnam Pro"/>
              <a:cs typeface="Be Vietnam Pro"/>
              <a:sym typeface="Be Vietnam Pro"/>
            </a:endParaRPr>
          </a:p>
        </p:txBody>
      </p:sp>
      <p:sp>
        <p:nvSpPr>
          <p:cNvPr id="25" name="Google Shape;25;p5"/>
          <p:cNvSpPr txBox="1"/>
          <p:nvPr>
            <p:ph type="title"/>
          </p:nvPr>
        </p:nvSpPr>
        <p:spPr>
          <a:xfrm>
            <a:off x="812800" y="1899196"/>
            <a:ext cx="9810750" cy="880318"/>
          </a:xfrm>
          <a:prstGeom prst="rect">
            <a:avLst/>
          </a:prstGeom>
          <a:noFill/>
          <a:ln>
            <a:noFill/>
          </a:ln>
        </p:spPr>
        <p:txBody>
          <a:bodyPr anchorCtr="0" anchor="t" bIns="0" lIns="0" spcFirstLastPara="1" rIns="0" wrap="square" tIns="0">
            <a:noAutofit/>
          </a:bodyPr>
          <a:lstStyle/>
          <a:p>
            <a:pPr indent="0" lvl="0" marL="0" rtl="0" algn="l">
              <a:lnSpc>
                <a:spcPct val="102000"/>
              </a:lnSpc>
              <a:spcBef>
                <a:spcPts val="0"/>
              </a:spcBef>
              <a:spcAft>
                <a:spcPts val="0"/>
              </a:spcAft>
              <a:buClr>
                <a:srgbClr val="E7ECF8"/>
              </a:buClr>
              <a:buSzPts val="6600"/>
              <a:buFont typeface="Space Grotesk"/>
              <a:buNone/>
            </a:pPr>
            <a:r>
              <a:rPr b="1" i="0" lang="en-US" sz="6600">
                <a:solidFill>
                  <a:srgbClr val="E7ECF8"/>
                </a:solidFill>
                <a:latin typeface="Be Vietnam Pro"/>
                <a:ea typeface="Be Vietnam Pro"/>
                <a:cs typeface="Be Vietnam Pro"/>
                <a:sym typeface="Be Vietnam Pro"/>
              </a:rPr>
              <a:t>PW</a:t>
            </a:r>
            <a:endParaRPr sz="6600">
              <a:latin typeface="Be Vietnam Pro"/>
              <a:ea typeface="Be Vietnam Pro"/>
              <a:cs typeface="Be Vietnam Pro"/>
              <a:sym typeface="Be Vietnam Pro"/>
            </a:endParaRPr>
          </a:p>
        </p:txBody>
      </p:sp>
      <p:sp>
        <p:nvSpPr>
          <p:cNvPr id="26" name="Google Shape;26;p5"/>
          <p:cNvSpPr/>
          <p:nvPr/>
        </p:nvSpPr>
        <p:spPr>
          <a:xfrm>
            <a:off x="812800" y="2931914"/>
            <a:ext cx="9810750" cy="901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6C9CFF"/>
              </a:buClr>
              <a:buSzPts val="3000"/>
              <a:buFont typeface="Space Grotesk"/>
              <a:buNone/>
            </a:pPr>
            <a:r>
              <a:rPr i="0" lang="en-US" sz="3000" u="none" cap="none" strike="noStrike">
                <a:solidFill>
                  <a:srgbClr val="6C9CFF"/>
                </a:solidFill>
                <a:latin typeface="Be Vietnam Pro"/>
                <a:ea typeface="Be Vietnam Pro"/>
                <a:cs typeface="Be Vietnam Pro"/>
                <a:sym typeface="Be Vietnam Pro"/>
              </a:rPr>
              <a:t>Nền tảng công nhận và xác thực quan hệ đối tác kinh doanh bằng NFT</a:t>
            </a:r>
            <a:endParaRPr i="0" sz="3000" u="none" cap="none" strike="noStrike">
              <a:solidFill>
                <a:schemeClr val="lt1"/>
              </a:solidFill>
              <a:latin typeface="Be Vietnam Pro"/>
              <a:ea typeface="Be Vietnam Pro"/>
              <a:cs typeface="Be Vietnam Pro"/>
              <a:sym typeface="Be Vietnam Pro"/>
            </a:endParaRPr>
          </a:p>
        </p:txBody>
      </p:sp>
      <p:sp>
        <p:nvSpPr>
          <p:cNvPr id="27" name="Google Shape;27;p5"/>
          <p:cNvSpPr/>
          <p:nvPr/>
        </p:nvSpPr>
        <p:spPr>
          <a:xfrm>
            <a:off x="812800" y="3986014"/>
            <a:ext cx="981075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500"/>
              <a:buFont typeface="Inter"/>
              <a:buNone/>
            </a:pPr>
            <a:r>
              <a:rPr i="0" lang="en-US" sz="1500" u="none" cap="none" strike="noStrike">
                <a:solidFill>
                  <a:srgbClr val="A7B1C9"/>
                </a:solidFill>
                <a:latin typeface="Be Vietnam Pro"/>
                <a:ea typeface="Be Vietnam Pro"/>
                <a:cs typeface="Be Vietnam Pro"/>
                <a:sym typeface="Be Vietnam Pro"/>
              </a:rPr>
              <a:t>Dự án gồm những gì: sản phẩm, quy tắc, quy trình, màn hình và kiểm thử</a:t>
            </a:r>
            <a:endParaRPr i="0" sz="1500" u="none" cap="none" strike="noStrike">
              <a:solidFill>
                <a:schemeClr val="lt1"/>
              </a:solidFill>
              <a:latin typeface="Be Vietnam Pro"/>
              <a:ea typeface="Be Vietnam Pro"/>
              <a:cs typeface="Be Vietnam Pro"/>
              <a:sym typeface="Be Vietnam Pro"/>
            </a:endParaRPr>
          </a:p>
        </p:txBody>
      </p:sp>
      <p:sp>
        <p:nvSpPr>
          <p:cNvPr id="28" name="Google Shape;28;p5"/>
          <p:cNvSpPr/>
          <p:nvPr/>
        </p:nvSpPr>
        <p:spPr>
          <a:xfrm>
            <a:off x="812800" y="559311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7ECF8"/>
              </a:buClr>
              <a:buSzPts val="1400"/>
              <a:buFont typeface="Inter"/>
              <a:buNone/>
            </a:pPr>
            <a:r>
              <a:rPr i="0" lang="en-US" sz="1400" u="none" cap="none" strike="noStrike">
                <a:solidFill>
                  <a:srgbClr val="E7ECF8"/>
                </a:solidFill>
                <a:latin typeface="Be Vietnam Pro"/>
                <a:ea typeface="Be Vietnam Pro"/>
                <a:cs typeface="Be Vietnam Pro"/>
                <a:sym typeface="Be Vietnam Pro"/>
              </a:rPr>
              <a:t>Nguyễn Đoàn Hồng Nhung · Business Analyst</a:t>
            </a:r>
            <a:endParaRPr i="0" sz="14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33" name="Shape 33"/>
        <p:cNvGrpSpPr/>
        <p:nvPr/>
      </p:nvGrpSpPr>
      <p:grpSpPr>
        <a:xfrm>
          <a:off x="0" y="0"/>
          <a:ext cx="0" cy="0"/>
          <a:chOff x="0" y="0"/>
          <a:chExt cx="0" cy="0"/>
        </a:xfrm>
      </p:grpSpPr>
      <p:sp>
        <p:nvSpPr>
          <p:cNvPr id="34" name="Google Shape;34;p6"/>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Vấn đề và ý tưởng của PW</a:t>
            </a:r>
            <a:endParaRPr sz="3200">
              <a:latin typeface="Be Vietnam Pro"/>
              <a:ea typeface="Be Vietnam Pro"/>
              <a:cs typeface="Be Vietnam Pro"/>
              <a:sym typeface="Be Vietnam Pro"/>
            </a:endParaRPr>
          </a:p>
        </p:txBody>
      </p:sp>
      <p:sp>
        <p:nvSpPr>
          <p:cNvPr id="35" name="Google Shape;35;p6"/>
          <p:cNvSpPr/>
          <p:nvPr/>
        </p:nvSpPr>
        <p:spPr>
          <a:xfrm>
            <a:off x="812800" y="1549400"/>
            <a:ext cx="5130900" cy="3098700"/>
          </a:xfrm>
          <a:prstGeom prst="roundRect">
            <a:avLst>
              <a:gd fmla="val 434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a:off x="1092200" y="1828800"/>
            <a:ext cx="45720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B94A"/>
              </a:buClr>
              <a:buSzPts val="1200"/>
              <a:buFont typeface="Inter"/>
              <a:buNone/>
            </a:pPr>
            <a:r>
              <a:rPr b="1" i="0" lang="en-US" sz="1200" u="none" cap="none" strike="noStrike">
                <a:solidFill>
                  <a:srgbClr val="F5B94A"/>
                </a:solidFill>
                <a:latin typeface="Be Vietnam Pro"/>
                <a:ea typeface="Be Vietnam Pro"/>
                <a:cs typeface="Be Vietnam Pro"/>
                <a:sym typeface="Be Vietnam Pro"/>
              </a:rPr>
              <a:t>HÔM NAY</a:t>
            </a:r>
            <a:endParaRPr i="0" sz="1200" u="none" cap="none" strike="noStrike">
              <a:solidFill>
                <a:schemeClr val="lt1"/>
              </a:solidFill>
              <a:latin typeface="Be Vietnam Pro"/>
              <a:ea typeface="Be Vietnam Pro"/>
              <a:cs typeface="Be Vietnam Pro"/>
              <a:sym typeface="Be Vietnam Pro"/>
            </a:endParaRPr>
          </a:p>
        </p:txBody>
      </p:sp>
      <p:sp>
        <p:nvSpPr>
          <p:cNvPr id="37" name="Google Shape;37;p6"/>
          <p:cNvSpPr/>
          <p:nvPr/>
        </p:nvSpPr>
        <p:spPr>
          <a:xfrm>
            <a:off x="1092200" y="2133600"/>
            <a:ext cx="4572000" cy="66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2000"/>
              <a:buFont typeface="Space Grotesk"/>
              <a:buNone/>
            </a:pPr>
            <a:r>
              <a:rPr b="1" i="0" lang="en-US" sz="2000" u="none" cap="none" strike="noStrike">
                <a:solidFill>
                  <a:srgbClr val="E7ECF8"/>
                </a:solidFill>
                <a:latin typeface="Be Vietnam Pro"/>
                <a:ea typeface="Be Vietnam Pro"/>
                <a:cs typeface="Be Vietnam Pro"/>
                <a:sym typeface="Be Vietnam Pro"/>
              </a:rPr>
              <a:t>Công nhận đối tác bằng lời nói và giấy tờ</a:t>
            </a:r>
            <a:endParaRPr i="0" sz="2000" u="none" cap="none" strike="noStrike">
              <a:solidFill>
                <a:schemeClr val="lt1"/>
              </a:solidFill>
              <a:latin typeface="Be Vietnam Pro"/>
              <a:ea typeface="Be Vietnam Pro"/>
              <a:cs typeface="Be Vietnam Pro"/>
              <a:sym typeface="Be Vietnam Pro"/>
            </a:endParaRPr>
          </a:p>
        </p:txBody>
      </p:sp>
      <p:sp>
        <p:nvSpPr>
          <p:cNvPr id="38" name="Google Shape;38;p6"/>
          <p:cNvSpPr/>
          <p:nvPr/>
        </p:nvSpPr>
        <p:spPr>
          <a:xfrm>
            <a:off x="1143000" y="2946400"/>
            <a:ext cx="4521300" cy="1498500"/>
          </a:xfrm>
          <a:prstGeom prst="rect">
            <a:avLst/>
          </a:prstGeom>
          <a:noFill/>
          <a:ln>
            <a:noFill/>
          </a:ln>
        </p:spPr>
        <p:txBody>
          <a:bodyPr anchorCtr="0" anchor="t" bIns="0" lIns="0" spcFirstLastPara="1" rIns="0" wrap="square" tIns="0">
            <a:noAutofit/>
          </a:bodyPr>
          <a:lstStyle/>
          <a:p>
            <a:pPr indent="-169418" lvl="0" marL="169418" marR="0" rtl="0" algn="l">
              <a:lnSpc>
                <a:spcPct val="140000"/>
              </a:lnSpc>
              <a:spcBef>
                <a:spcPts val="0"/>
              </a:spcBef>
              <a:spcAft>
                <a:spcPts val="0"/>
              </a:spcAft>
              <a:buClr>
                <a:srgbClr val="A7B1C9"/>
              </a:buClr>
              <a:buSzPts val="1400"/>
              <a:buFont typeface="Be Vietnam Pro"/>
              <a:buChar char="•"/>
            </a:pPr>
            <a:r>
              <a:rPr i="0" lang="en-US" sz="1400" u="none" cap="none" strike="noStrike">
                <a:solidFill>
                  <a:srgbClr val="A7B1C9"/>
                </a:solidFill>
                <a:latin typeface="Be Vietnam Pro"/>
                <a:ea typeface="Be Vietnam Pro"/>
                <a:cs typeface="Be Vietnam Pro"/>
                <a:sym typeface="Be Vietnam Pro"/>
              </a:rPr>
              <a:t>Giấy chứng nhận, thư, bài báo</a:t>
            </a:r>
            <a:endParaRPr i="0" sz="1400" u="none" cap="none" strike="noStrike">
              <a:solidFill>
                <a:schemeClr val="lt1"/>
              </a:solidFill>
              <a:latin typeface="Be Vietnam Pro"/>
              <a:ea typeface="Be Vietnam Pro"/>
              <a:cs typeface="Be Vietnam Pro"/>
              <a:sym typeface="Be Vietnam Pro"/>
            </a:endParaRPr>
          </a:p>
          <a:p>
            <a:pPr indent="-169418" lvl="0" marL="169418" marR="0" rtl="0" algn="l">
              <a:lnSpc>
                <a:spcPct val="140000"/>
              </a:lnSpc>
              <a:spcBef>
                <a:spcPts val="800"/>
              </a:spcBef>
              <a:spcAft>
                <a:spcPts val="0"/>
              </a:spcAft>
              <a:buClr>
                <a:srgbClr val="A7B1C9"/>
              </a:buClr>
              <a:buSzPts val="1400"/>
              <a:buFont typeface="Be Vietnam Pro"/>
              <a:buChar char="•"/>
            </a:pPr>
            <a:r>
              <a:rPr i="0" lang="en-US" sz="1400" u="none" cap="none" strike="noStrike">
                <a:solidFill>
                  <a:srgbClr val="A7B1C9"/>
                </a:solidFill>
                <a:latin typeface="Be Vietnam Pro"/>
                <a:ea typeface="Be Vietnam Pro"/>
                <a:cs typeface="Be Vietnam Pro"/>
                <a:sym typeface="Be Vietnam Pro"/>
              </a:rPr>
              <a:t>Không có kho lưu trữ chung</a:t>
            </a:r>
            <a:endParaRPr i="0" sz="1400" u="none" cap="none" strike="noStrike">
              <a:solidFill>
                <a:schemeClr val="lt1"/>
              </a:solidFill>
              <a:latin typeface="Be Vietnam Pro"/>
              <a:ea typeface="Be Vietnam Pro"/>
              <a:cs typeface="Be Vietnam Pro"/>
              <a:sym typeface="Be Vietnam Pro"/>
            </a:endParaRPr>
          </a:p>
          <a:p>
            <a:pPr indent="-169418" lvl="0" marL="169418" marR="0" rtl="0" algn="l">
              <a:lnSpc>
                <a:spcPct val="140000"/>
              </a:lnSpc>
              <a:spcBef>
                <a:spcPts val="800"/>
              </a:spcBef>
              <a:spcAft>
                <a:spcPts val="0"/>
              </a:spcAft>
              <a:buClr>
                <a:srgbClr val="A7B1C9"/>
              </a:buClr>
              <a:buSzPts val="1400"/>
              <a:buFont typeface="Be Vietnam Pro"/>
              <a:buChar char="•"/>
            </a:pPr>
            <a:r>
              <a:rPr i="0" lang="en-US" sz="1400" u="none" cap="none" strike="noStrike">
                <a:solidFill>
                  <a:srgbClr val="A7B1C9"/>
                </a:solidFill>
                <a:latin typeface="Be Vietnam Pro"/>
                <a:ea typeface="Be Vietnam Pro"/>
                <a:cs typeface="Be Vietnam Pro"/>
                <a:sym typeface="Be Vietnam Pro"/>
              </a:rPr>
              <a:t>Dễ sao chép, làm giả</a:t>
            </a:r>
            <a:endParaRPr i="0" sz="1400" u="none" cap="none" strike="noStrike">
              <a:solidFill>
                <a:schemeClr val="lt1"/>
              </a:solidFill>
              <a:latin typeface="Be Vietnam Pro"/>
              <a:ea typeface="Be Vietnam Pro"/>
              <a:cs typeface="Be Vietnam Pro"/>
              <a:sym typeface="Be Vietnam Pro"/>
            </a:endParaRPr>
          </a:p>
          <a:p>
            <a:pPr indent="-169418" lvl="0" marL="169418" marR="0" rtl="0" algn="l">
              <a:lnSpc>
                <a:spcPct val="140000"/>
              </a:lnSpc>
              <a:spcBef>
                <a:spcPts val="800"/>
              </a:spcBef>
              <a:spcAft>
                <a:spcPts val="800"/>
              </a:spcAft>
              <a:buClr>
                <a:srgbClr val="A7B1C9"/>
              </a:buClr>
              <a:buSzPts val="1400"/>
              <a:buFont typeface="Be Vietnam Pro"/>
              <a:buChar char="•"/>
            </a:pPr>
            <a:r>
              <a:rPr i="0" lang="en-US" sz="1400" u="none" cap="none" strike="noStrike">
                <a:solidFill>
                  <a:srgbClr val="A7B1C9"/>
                </a:solidFill>
                <a:latin typeface="Be Vietnam Pro"/>
                <a:ea typeface="Be Vietnam Pro"/>
                <a:cs typeface="Be Vietnam Pro"/>
                <a:sym typeface="Be Vietnam Pro"/>
              </a:rPr>
              <a:t>Bên thứ ba phải kiểm tra thủ công</a:t>
            </a:r>
            <a:endParaRPr i="0" sz="1400" u="none" cap="none" strike="noStrike">
              <a:solidFill>
                <a:schemeClr val="lt1"/>
              </a:solidFill>
              <a:latin typeface="Be Vietnam Pro"/>
              <a:ea typeface="Be Vietnam Pro"/>
              <a:cs typeface="Be Vietnam Pro"/>
              <a:sym typeface="Be Vietnam Pro"/>
            </a:endParaRPr>
          </a:p>
        </p:txBody>
      </p:sp>
      <p:pic>
        <p:nvPicPr>
          <p:cNvPr descr="Lightning" id="39" name="Google Shape;39;p6"/>
          <p:cNvPicPr preferRelativeResize="0"/>
          <p:nvPr/>
        </p:nvPicPr>
        <p:blipFill rotWithShape="1">
          <a:blip r:embed="rId3">
            <a:alphaModFix/>
          </a:blip>
          <a:srcRect b="0" l="0" r="0" t="0"/>
          <a:stretch/>
        </p:blipFill>
        <p:spPr>
          <a:xfrm>
            <a:off x="6026150" y="2870200"/>
            <a:ext cx="457200" cy="457200"/>
          </a:xfrm>
          <a:prstGeom prst="rect">
            <a:avLst/>
          </a:prstGeom>
          <a:noFill/>
          <a:ln>
            <a:noFill/>
          </a:ln>
        </p:spPr>
      </p:pic>
      <p:sp>
        <p:nvSpPr>
          <p:cNvPr id="40" name="Google Shape;40;p6"/>
          <p:cNvSpPr/>
          <p:nvPr/>
        </p:nvSpPr>
        <p:spPr>
          <a:xfrm>
            <a:off x="6565900" y="1549400"/>
            <a:ext cx="5130900" cy="3098700"/>
          </a:xfrm>
          <a:prstGeom prst="roundRect">
            <a:avLst>
              <a:gd fmla="val 4347" name="adj"/>
            </a:avLst>
          </a:prstGeom>
          <a:solidFill>
            <a:srgbClr val="1B2440"/>
          </a:solidFill>
          <a:ln cap="flat" cmpd="sng" w="9525">
            <a:solidFill>
              <a:srgbClr val="45DF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p:nvPr/>
        </p:nvSpPr>
        <p:spPr>
          <a:xfrm>
            <a:off x="6845300" y="1828800"/>
            <a:ext cx="45720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5DFA4"/>
              </a:buClr>
              <a:buSzPts val="1200"/>
              <a:buFont typeface="Inter"/>
              <a:buNone/>
            </a:pPr>
            <a:r>
              <a:rPr b="1" i="0" lang="en-US" sz="1200" u="none" cap="none" strike="noStrike">
                <a:solidFill>
                  <a:srgbClr val="45DFA4"/>
                </a:solidFill>
                <a:latin typeface="Be Vietnam Pro"/>
                <a:ea typeface="Be Vietnam Pro"/>
                <a:cs typeface="Be Vietnam Pro"/>
                <a:sym typeface="Be Vietnam Pro"/>
              </a:rPr>
              <a:t>VỚI PW</a:t>
            </a:r>
            <a:endParaRPr i="0" sz="1200" u="none" cap="none" strike="noStrike">
              <a:solidFill>
                <a:schemeClr val="lt1"/>
              </a:solidFill>
              <a:latin typeface="Be Vietnam Pro"/>
              <a:ea typeface="Be Vietnam Pro"/>
              <a:cs typeface="Be Vietnam Pro"/>
              <a:sym typeface="Be Vietnam Pro"/>
            </a:endParaRPr>
          </a:p>
        </p:txBody>
      </p:sp>
      <p:sp>
        <p:nvSpPr>
          <p:cNvPr id="42" name="Google Shape;42;p6"/>
          <p:cNvSpPr/>
          <p:nvPr/>
        </p:nvSpPr>
        <p:spPr>
          <a:xfrm>
            <a:off x="6845300" y="2133600"/>
            <a:ext cx="4572000" cy="66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2000"/>
              <a:buFont typeface="Space Grotesk"/>
              <a:buNone/>
            </a:pPr>
            <a:r>
              <a:rPr b="1" i="0" lang="en-US" sz="2000" u="none" cap="none" strike="noStrike">
                <a:solidFill>
                  <a:srgbClr val="E7ECF8"/>
                </a:solidFill>
                <a:latin typeface="Be Vietnam Pro"/>
                <a:ea typeface="Be Vietnam Pro"/>
                <a:cs typeface="Be Vietnam Pro"/>
                <a:sym typeface="Be Vietnam Pro"/>
              </a:rPr>
              <a:t>PW cấp danh hiệu số, ai cũng kiểm tra được</a:t>
            </a:r>
            <a:endParaRPr i="0" sz="2000" u="none" cap="none" strike="noStrike">
              <a:solidFill>
                <a:schemeClr val="lt1"/>
              </a:solidFill>
              <a:latin typeface="Be Vietnam Pro"/>
              <a:ea typeface="Be Vietnam Pro"/>
              <a:cs typeface="Be Vietnam Pro"/>
              <a:sym typeface="Be Vietnam Pro"/>
            </a:endParaRPr>
          </a:p>
        </p:txBody>
      </p:sp>
      <p:sp>
        <p:nvSpPr>
          <p:cNvPr id="43" name="Google Shape;43;p6"/>
          <p:cNvSpPr/>
          <p:nvPr/>
        </p:nvSpPr>
        <p:spPr>
          <a:xfrm>
            <a:off x="6896100" y="2946400"/>
            <a:ext cx="4521300" cy="1498500"/>
          </a:xfrm>
          <a:prstGeom prst="rect">
            <a:avLst/>
          </a:prstGeom>
          <a:noFill/>
          <a:ln>
            <a:noFill/>
          </a:ln>
        </p:spPr>
        <p:txBody>
          <a:bodyPr anchorCtr="0" anchor="t" bIns="0" lIns="0" spcFirstLastPara="1" rIns="0" wrap="square" tIns="0">
            <a:noAutofit/>
          </a:bodyPr>
          <a:lstStyle/>
          <a:p>
            <a:pPr indent="-169418" lvl="0" marL="169418" marR="0" rtl="0" algn="l">
              <a:lnSpc>
                <a:spcPct val="140000"/>
              </a:lnSpc>
              <a:spcBef>
                <a:spcPts val="0"/>
              </a:spcBef>
              <a:spcAft>
                <a:spcPts val="0"/>
              </a:spcAft>
              <a:buClr>
                <a:srgbClr val="E7ECF8"/>
              </a:buClr>
              <a:buSzPts val="1400"/>
              <a:buFont typeface="Be Vietnam Pro"/>
              <a:buChar char="•"/>
            </a:pPr>
            <a:r>
              <a:rPr i="0" lang="en-US" sz="1400" u="none" cap="none" strike="noStrike">
                <a:solidFill>
                  <a:srgbClr val="E7ECF8"/>
                </a:solidFill>
                <a:latin typeface="Be Vietnam Pro"/>
                <a:ea typeface="Be Vietnam Pro"/>
                <a:cs typeface="Be Vietnam Pro"/>
                <a:sym typeface="Be Vietnam Pro"/>
              </a:rPr>
              <a:t>Danh hiệu là NFT ghi trên blockchain</a:t>
            </a:r>
            <a:endParaRPr i="0" sz="1400" u="none" cap="none" strike="noStrike">
              <a:solidFill>
                <a:schemeClr val="lt1"/>
              </a:solidFill>
              <a:latin typeface="Be Vietnam Pro"/>
              <a:ea typeface="Be Vietnam Pro"/>
              <a:cs typeface="Be Vietnam Pro"/>
              <a:sym typeface="Be Vietnam Pro"/>
            </a:endParaRPr>
          </a:p>
          <a:p>
            <a:pPr indent="-169418" lvl="0" marL="169418" marR="0" rtl="0" algn="l">
              <a:lnSpc>
                <a:spcPct val="140000"/>
              </a:lnSpc>
              <a:spcBef>
                <a:spcPts val="800"/>
              </a:spcBef>
              <a:spcAft>
                <a:spcPts val="0"/>
              </a:spcAft>
              <a:buClr>
                <a:srgbClr val="E7ECF8"/>
              </a:buClr>
              <a:buSzPts val="1400"/>
              <a:buFont typeface="Be Vietnam Pro"/>
              <a:buChar char="•"/>
            </a:pPr>
            <a:r>
              <a:rPr i="0" lang="en-US" sz="1400" u="none" cap="none" strike="noStrike">
                <a:solidFill>
                  <a:srgbClr val="E7ECF8"/>
                </a:solidFill>
                <a:latin typeface="Be Vietnam Pro"/>
                <a:ea typeface="Be Vietnam Pro"/>
                <a:cs typeface="Be Vietnam Pro"/>
                <a:sym typeface="Be Vietnam Pro"/>
              </a:rPr>
              <a:t>Không sửa, không giả mạo được</a:t>
            </a:r>
            <a:endParaRPr i="0" sz="1400" u="none" cap="none" strike="noStrike">
              <a:solidFill>
                <a:schemeClr val="lt1"/>
              </a:solidFill>
              <a:latin typeface="Be Vietnam Pro"/>
              <a:ea typeface="Be Vietnam Pro"/>
              <a:cs typeface="Be Vietnam Pro"/>
              <a:sym typeface="Be Vietnam Pro"/>
            </a:endParaRPr>
          </a:p>
          <a:p>
            <a:pPr indent="-169418" lvl="0" marL="169418" marR="0" rtl="0" algn="l">
              <a:lnSpc>
                <a:spcPct val="140000"/>
              </a:lnSpc>
              <a:spcBef>
                <a:spcPts val="800"/>
              </a:spcBef>
              <a:spcAft>
                <a:spcPts val="800"/>
              </a:spcAft>
              <a:buClr>
                <a:srgbClr val="E7ECF8"/>
              </a:buClr>
              <a:buSzPts val="1400"/>
              <a:buFont typeface="Be Vietnam Pro"/>
              <a:buChar char="•"/>
            </a:pPr>
            <a:r>
              <a:rPr i="0" lang="en-US" sz="1400" u="none" cap="none" strike="noStrike">
                <a:solidFill>
                  <a:srgbClr val="E7ECF8"/>
                </a:solidFill>
                <a:latin typeface="Be Vietnam Pro"/>
                <a:ea typeface="Be Vietnam Pro"/>
                <a:cs typeface="Be Vietnam Pro"/>
                <a:sym typeface="Be Vietnam Pro"/>
              </a:rPr>
              <a:t>Tra cứu và xác minh công khai</a:t>
            </a:r>
            <a:endParaRPr i="0" sz="1400" u="none" cap="none" strike="noStrike">
              <a:solidFill>
                <a:schemeClr val="lt1"/>
              </a:solidFill>
              <a:latin typeface="Be Vietnam Pro"/>
              <a:ea typeface="Be Vietnam Pro"/>
              <a:cs typeface="Be Vietnam Pro"/>
              <a:sym typeface="Be Vietnam Pro"/>
            </a:endParaRPr>
          </a:p>
        </p:txBody>
      </p:sp>
      <p:cxnSp>
        <p:nvCxnSpPr>
          <p:cNvPr id="44" name="Google Shape;44;p6"/>
          <p:cNvCxnSpPr/>
          <p:nvPr/>
        </p:nvCxnSpPr>
        <p:spPr>
          <a:xfrm>
            <a:off x="838200" y="5003800"/>
            <a:ext cx="0" cy="635100"/>
          </a:xfrm>
          <a:prstGeom prst="straightConnector1">
            <a:avLst/>
          </a:prstGeom>
          <a:noFill/>
          <a:ln cap="flat" cmpd="sng" w="38100">
            <a:solidFill>
              <a:srgbClr val="45DFA4"/>
            </a:solidFill>
            <a:prstDash val="solid"/>
            <a:round/>
            <a:headEnd len="sm" w="sm" type="none"/>
            <a:tailEnd len="sm" w="sm" type="none"/>
          </a:ln>
        </p:spPr>
      </p:cxnSp>
      <p:sp>
        <p:nvSpPr>
          <p:cNvPr id="45" name="Google Shape;45;p6"/>
          <p:cNvSpPr/>
          <p:nvPr/>
        </p:nvSpPr>
        <p:spPr>
          <a:xfrm>
            <a:off x="1028700" y="5016500"/>
            <a:ext cx="10668000" cy="609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7ECF8"/>
              </a:buClr>
              <a:buSzPts val="1600"/>
              <a:buFont typeface="Inter"/>
              <a:buNone/>
            </a:pPr>
            <a:r>
              <a:rPr i="0" lang="en-US" sz="1600" u="none" cap="none" strike="noStrike">
                <a:solidFill>
                  <a:srgbClr val="E7ECF8"/>
                </a:solidFill>
                <a:latin typeface="Be Vietnam Pro"/>
                <a:ea typeface="Be Vietnam Pro"/>
                <a:cs typeface="Be Vietnam Pro"/>
                <a:sym typeface="Be Vietnam Pro"/>
              </a:rPr>
              <a:t>Mục tiêu đo được trong BRD: bên thứ ba xác minh danh hiệu dưới 5 giây mà không cần hỏi bên cấp; 100% danh hiệu được mint on-chain; danh hiệu mới hiện trên hồ sơ công khai trong 5 phút.</a:t>
            </a:r>
            <a:endParaRPr i="0" sz="1600" u="none" cap="none" strike="noStrike">
              <a:solidFill>
                <a:schemeClr val="lt1"/>
              </a:solidFill>
              <a:latin typeface="Be Vietnam Pro"/>
              <a:ea typeface="Be Vietnam Pro"/>
              <a:cs typeface="Be Vietnam Pro"/>
              <a:sym typeface="Be Vietnam Pro"/>
            </a:endParaRPr>
          </a:p>
        </p:txBody>
      </p:sp>
      <p:sp>
        <p:nvSpPr>
          <p:cNvPr id="46" name="Google Shape;46;p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Ý tưởng · 2</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51" name="Shape 51"/>
        <p:cNvGrpSpPr/>
        <p:nvPr/>
      </p:nvGrpSpPr>
      <p:grpSpPr>
        <a:xfrm>
          <a:off x="0" y="0"/>
          <a:ext cx="0" cy="0"/>
          <a:chOff x="0" y="0"/>
          <a:chExt cx="0" cy="0"/>
        </a:xfrm>
      </p:grpSpPr>
      <p:sp>
        <p:nvSpPr>
          <p:cNvPr id="52" name="Google Shape;52;p7"/>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PW gồm 7 nhóm chức năng</a:t>
            </a:r>
            <a:endParaRPr sz="3200">
              <a:latin typeface="Be Vietnam Pro"/>
              <a:ea typeface="Be Vietnam Pro"/>
              <a:cs typeface="Be Vietnam Pro"/>
              <a:sym typeface="Be Vietnam Pro"/>
            </a:endParaRPr>
          </a:p>
        </p:txBody>
      </p:sp>
      <p:sp>
        <p:nvSpPr>
          <p:cNvPr id="53" name="Google Shape;53;p7"/>
          <p:cNvSpPr/>
          <p:nvPr/>
        </p:nvSpPr>
        <p:spPr>
          <a:xfrm>
            <a:off x="812800" y="1348730"/>
            <a:ext cx="10883392" cy="28257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A7B1C9"/>
              </a:buClr>
              <a:buSzPts val="1500"/>
              <a:buFont typeface="Inter"/>
              <a:buNone/>
            </a:pPr>
            <a:r>
              <a:rPr i="0" lang="en-US" sz="1500" u="none" cap="none" strike="noStrike">
                <a:solidFill>
                  <a:srgbClr val="A7B1C9"/>
                </a:solidFill>
                <a:latin typeface="Be Vietnam Pro"/>
                <a:ea typeface="Be Vietnam Pro"/>
                <a:cs typeface="Be Vietnam Pro"/>
                <a:sym typeface="Be Vietnam Pro"/>
              </a:rPr>
              <a:t>Chia theo sơ đồ phân rã chức năng (FDD) của dự án</a:t>
            </a:r>
            <a:endParaRPr i="0" sz="1500" u="none" cap="none" strike="noStrike">
              <a:solidFill>
                <a:schemeClr val="lt1"/>
              </a:solidFill>
              <a:latin typeface="Be Vietnam Pro"/>
              <a:ea typeface="Be Vietnam Pro"/>
              <a:cs typeface="Be Vietnam Pro"/>
              <a:sym typeface="Be Vietnam Pro"/>
            </a:endParaRPr>
          </a:p>
        </p:txBody>
      </p:sp>
      <p:sp>
        <p:nvSpPr>
          <p:cNvPr id="54" name="Google Shape;54;p7"/>
          <p:cNvSpPr/>
          <p:nvPr/>
        </p:nvSpPr>
        <p:spPr>
          <a:xfrm>
            <a:off x="815975" y="1863080"/>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7"/>
          <p:cNvSpPr/>
          <p:nvPr/>
        </p:nvSpPr>
        <p:spPr>
          <a:xfrm>
            <a:off x="1022350" y="2056755"/>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Onboarding</a:t>
            </a:r>
            <a:endParaRPr i="0" sz="1600" u="none" cap="none" strike="noStrike">
              <a:solidFill>
                <a:schemeClr val="lt1"/>
              </a:solidFill>
              <a:latin typeface="Be Vietnam Pro"/>
              <a:ea typeface="Be Vietnam Pro"/>
              <a:cs typeface="Be Vietnam Pro"/>
              <a:sym typeface="Be Vietnam Pro"/>
            </a:endParaRPr>
          </a:p>
        </p:txBody>
      </p:sp>
      <p:sp>
        <p:nvSpPr>
          <p:cNvPr id="56" name="Google Shape;56;p7"/>
          <p:cNvSpPr/>
          <p:nvPr/>
        </p:nvSpPr>
        <p:spPr>
          <a:xfrm>
            <a:off x="1127506" y="2389485"/>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Waitlist, đăng ký</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Nộp KYC</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Phân Class 0–7</a:t>
            </a:r>
            <a:endParaRPr i="0" sz="1200" u="none" cap="none" strike="noStrike">
              <a:solidFill>
                <a:schemeClr val="lt1"/>
              </a:solidFill>
              <a:latin typeface="Be Vietnam Pro"/>
              <a:ea typeface="Be Vietnam Pro"/>
              <a:cs typeface="Be Vietnam Pro"/>
              <a:sym typeface="Be Vietnam Pro"/>
            </a:endParaRPr>
          </a:p>
        </p:txBody>
      </p:sp>
      <p:sp>
        <p:nvSpPr>
          <p:cNvPr id="57" name="Google Shape;57;p7"/>
          <p:cNvSpPr/>
          <p:nvPr/>
        </p:nvSpPr>
        <p:spPr>
          <a:xfrm>
            <a:off x="3495675" y="1863080"/>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7"/>
          <p:cNvSpPr/>
          <p:nvPr/>
        </p:nvSpPr>
        <p:spPr>
          <a:xfrm>
            <a:off x="3702050" y="2056755"/>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Tài khoản và ví</a:t>
            </a:r>
            <a:endParaRPr i="0" sz="1600" u="none" cap="none" strike="noStrike">
              <a:solidFill>
                <a:schemeClr val="lt1"/>
              </a:solidFill>
              <a:latin typeface="Be Vietnam Pro"/>
              <a:ea typeface="Be Vietnam Pro"/>
              <a:cs typeface="Be Vietnam Pro"/>
              <a:sym typeface="Be Vietnam Pro"/>
            </a:endParaRPr>
          </a:p>
        </p:txBody>
      </p:sp>
      <p:sp>
        <p:nvSpPr>
          <p:cNvPr id="59" name="Google Shape;59;p7"/>
          <p:cNvSpPr/>
          <p:nvPr/>
        </p:nvSpPr>
        <p:spPr>
          <a:xfrm>
            <a:off x="3807206" y="2389485"/>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Đăng nhập</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Ví giữ hộ (Circle)</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Liên kết ví, chuyển NFT</a:t>
            </a:r>
            <a:endParaRPr i="0" sz="1200" u="none" cap="none" strike="noStrike">
              <a:solidFill>
                <a:schemeClr val="lt1"/>
              </a:solidFill>
              <a:latin typeface="Be Vietnam Pro"/>
              <a:ea typeface="Be Vietnam Pro"/>
              <a:cs typeface="Be Vietnam Pro"/>
              <a:sym typeface="Be Vietnam Pro"/>
            </a:endParaRPr>
          </a:p>
        </p:txBody>
      </p:sp>
      <p:sp>
        <p:nvSpPr>
          <p:cNvPr id="60" name="Google Shape;60;p7"/>
          <p:cNvSpPr/>
          <p:nvPr/>
        </p:nvSpPr>
        <p:spPr>
          <a:xfrm>
            <a:off x="6175375" y="1863080"/>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7"/>
          <p:cNvSpPr/>
          <p:nvPr/>
        </p:nvSpPr>
        <p:spPr>
          <a:xfrm>
            <a:off x="6381750" y="2056755"/>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Danh hiệu và NFT</a:t>
            </a:r>
            <a:endParaRPr i="0" sz="1600" u="none" cap="none" strike="noStrike">
              <a:solidFill>
                <a:schemeClr val="lt1"/>
              </a:solidFill>
              <a:latin typeface="Be Vietnam Pro"/>
              <a:ea typeface="Be Vietnam Pro"/>
              <a:cs typeface="Be Vietnam Pro"/>
              <a:sym typeface="Be Vietnam Pro"/>
            </a:endParaRPr>
          </a:p>
        </p:txBody>
      </p:sp>
      <p:sp>
        <p:nvSpPr>
          <p:cNvPr id="62" name="Google Shape;62;p7"/>
          <p:cNvSpPr/>
          <p:nvPr/>
        </p:nvSpPr>
        <p:spPr>
          <a:xfrm>
            <a:off x="6486906" y="2389485"/>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3 loại danh hiệu</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Mua hoặc tặng</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Mint NFT tự động</a:t>
            </a:r>
            <a:endParaRPr i="0" sz="1200" u="none" cap="none" strike="noStrike">
              <a:solidFill>
                <a:schemeClr val="lt1"/>
              </a:solidFill>
              <a:latin typeface="Be Vietnam Pro"/>
              <a:ea typeface="Be Vietnam Pro"/>
              <a:cs typeface="Be Vietnam Pro"/>
              <a:sym typeface="Be Vietnam Pro"/>
            </a:endParaRPr>
          </a:p>
        </p:txBody>
      </p:sp>
      <p:sp>
        <p:nvSpPr>
          <p:cNvPr id="63" name="Google Shape;63;p7"/>
          <p:cNvSpPr/>
          <p:nvPr/>
        </p:nvSpPr>
        <p:spPr>
          <a:xfrm>
            <a:off x="8855075" y="1863080"/>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7"/>
          <p:cNvSpPr/>
          <p:nvPr/>
        </p:nvSpPr>
        <p:spPr>
          <a:xfrm>
            <a:off x="9061450" y="2056755"/>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Giá và điểm</a:t>
            </a:r>
            <a:endParaRPr i="0" sz="1600" u="none" cap="none" strike="noStrike">
              <a:solidFill>
                <a:schemeClr val="lt1"/>
              </a:solidFill>
              <a:latin typeface="Be Vietnam Pro"/>
              <a:ea typeface="Be Vietnam Pro"/>
              <a:cs typeface="Be Vietnam Pro"/>
              <a:sym typeface="Be Vietnam Pro"/>
            </a:endParaRPr>
          </a:p>
        </p:txBody>
      </p:sp>
      <p:sp>
        <p:nvSpPr>
          <p:cNvPr id="65" name="Google Shape;65;p7"/>
          <p:cNvSpPr/>
          <p:nvPr/>
        </p:nvSpPr>
        <p:spPr>
          <a:xfrm>
            <a:off x="9166606" y="2389485"/>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Giá theo Class</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Giảm 20% sau 2 năm</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Điểm thưởng 10/10/10</a:t>
            </a:r>
            <a:endParaRPr i="0" sz="1200" u="none" cap="none" strike="noStrike">
              <a:solidFill>
                <a:schemeClr val="lt1"/>
              </a:solidFill>
              <a:latin typeface="Be Vietnam Pro"/>
              <a:ea typeface="Be Vietnam Pro"/>
              <a:cs typeface="Be Vietnam Pro"/>
              <a:sym typeface="Be Vietnam Pro"/>
            </a:endParaRPr>
          </a:p>
        </p:txBody>
      </p:sp>
      <p:sp>
        <p:nvSpPr>
          <p:cNvPr id="66" name="Google Shape;66;p7"/>
          <p:cNvSpPr/>
          <p:nvPr/>
        </p:nvSpPr>
        <p:spPr>
          <a:xfrm>
            <a:off x="815975" y="3404791"/>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
          <p:cNvSpPr/>
          <p:nvPr/>
        </p:nvSpPr>
        <p:spPr>
          <a:xfrm>
            <a:off x="1022350" y="3598466"/>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600"/>
              <a:buFont typeface="Space Grotesk"/>
              <a:buNone/>
            </a:pPr>
            <a:r>
              <a:rPr b="1" i="0" lang="en-US" sz="1600" u="none" cap="none" strike="noStrike">
                <a:solidFill>
                  <a:srgbClr val="F5B94A"/>
                </a:solidFill>
                <a:latin typeface="Be Vietnam Pro"/>
                <a:ea typeface="Be Vietnam Pro"/>
                <a:cs typeface="Be Vietnam Pro"/>
                <a:sym typeface="Be Vietnam Pro"/>
              </a:rPr>
              <a:t>Directory</a:t>
            </a:r>
            <a:endParaRPr i="0" sz="1600" u="none" cap="none" strike="noStrike">
              <a:solidFill>
                <a:schemeClr val="lt1"/>
              </a:solidFill>
              <a:latin typeface="Be Vietnam Pro"/>
              <a:ea typeface="Be Vietnam Pro"/>
              <a:cs typeface="Be Vietnam Pro"/>
              <a:sym typeface="Be Vietnam Pro"/>
            </a:endParaRPr>
          </a:p>
        </p:txBody>
      </p:sp>
      <p:sp>
        <p:nvSpPr>
          <p:cNvPr id="68" name="Google Shape;68;p7"/>
          <p:cNvSpPr/>
          <p:nvPr/>
        </p:nvSpPr>
        <p:spPr>
          <a:xfrm>
            <a:off x="1127506" y="3931196"/>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Tra cứu công khai</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Xác minh on-chain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Xếp hạng tự động</a:t>
            </a:r>
            <a:endParaRPr i="0" sz="1200" u="none" cap="none" strike="noStrike">
              <a:solidFill>
                <a:schemeClr val="lt1"/>
              </a:solidFill>
              <a:latin typeface="Be Vietnam Pro"/>
              <a:ea typeface="Be Vietnam Pro"/>
              <a:cs typeface="Be Vietnam Pro"/>
              <a:sym typeface="Be Vietnam Pro"/>
            </a:endParaRPr>
          </a:p>
        </p:txBody>
      </p:sp>
      <p:sp>
        <p:nvSpPr>
          <p:cNvPr id="69" name="Google Shape;69;p7"/>
          <p:cNvSpPr/>
          <p:nvPr/>
        </p:nvSpPr>
        <p:spPr>
          <a:xfrm>
            <a:off x="3495675" y="3404791"/>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a:off x="3702050" y="3598466"/>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600"/>
              <a:buFont typeface="Space Grotesk"/>
              <a:buNone/>
            </a:pPr>
            <a:r>
              <a:rPr b="1" i="0" lang="en-US" sz="1600" u="none" cap="none" strike="noStrike">
                <a:solidFill>
                  <a:srgbClr val="F5B94A"/>
                </a:solidFill>
                <a:latin typeface="Be Vietnam Pro"/>
                <a:ea typeface="Be Vietnam Pro"/>
                <a:cs typeface="Be Vietnam Pro"/>
                <a:sym typeface="Be Vietnam Pro"/>
              </a:rPr>
              <a:t>Quản trị</a:t>
            </a:r>
            <a:endParaRPr i="0" sz="1600" u="none" cap="none" strike="noStrike">
              <a:solidFill>
                <a:schemeClr val="lt1"/>
              </a:solidFill>
              <a:latin typeface="Be Vietnam Pro"/>
              <a:ea typeface="Be Vietnam Pro"/>
              <a:cs typeface="Be Vietnam Pro"/>
              <a:sym typeface="Be Vietnam Pro"/>
            </a:endParaRPr>
          </a:p>
        </p:txBody>
      </p:sp>
      <p:sp>
        <p:nvSpPr>
          <p:cNvPr id="71" name="Google Shape;71;p7"/>
          <p:cNvSpPr/>
          <p:nvPr/>
        </p:nvSpPr>
        <p:spPr>
          <a:xfrm>
            <a:off x="3807206" y="3931196"/>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Duyệt KYC</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Trao Award, thu hồi</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Chỉnh điểm, Audit Logs</a:t>
            </a:r>
            <a:endParaRPr i="0" sz="1200" u="none" cap="none" strike="noStrike">
              <a:solidFill>
                <a:schemeClr val="lt1"/>
              </a:solidFill>
              <a:latin typeface="Be Vietnam Pro"/>
              <a:ea typeface="Be Vietnam Pro"/>
              <a:cs typeface="Be Vietnam Pro"/>
              <a:sym typeface="Be Vietnam Pro"/>
            </a:endParaRPr>
          </a:p>
        </p:txBody>
      </p:sp>
      <p:sp>
        <p:nvSpPr>
          <p:cNvPr id="72" name="Google Shape;72;p7"/>
          <p:cNvSpPr/>
          <p:nvPr/>
        </p:nvSpPr>
        <p:spPr>
          <a:xfrm>
            <a:off x="6175375" y="3404791"/>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6381750" y="3598466"/>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Trợ lý AI</a:t>
            </a:r>
            <a:endParaRPr i="0" sz="1600" u="none" cap="none" strike="noStrike">
              <a:solidFill>
                <a:schemeClr val="lt1"/>
              </a:solidFill>
              <a:latin typeface="Be Vietnam Pro"/>
              <a:ea typeface="Be Vietnam Pro"/>
              <a:cs typeface="Be Vietnam Pro"/>
              <a:sym typeface="Be Vietnam Pro"/>
            </a:endParaRPr>
          </a:p>
        </p:txBody>
      </p:sp>
      <p:sp>
        <p:nvSpPr>
          <p:cNvPr id="74" name="Google Shape;74;p7"/>
          <p:cNvSpPr/>
          <p:nvPr/>
        </p:nvSpPr>
        <p:spPr>
          <a:xfrm>
            <a:off x="6486906" y="3931196"/>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Hỏi đáp, tra NFT</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Hướng dẫn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Gợi ý danh hiệu</a:t>
            </a:r>
            <a:endParaRPr i="0" sz="1200" u="none" cap="none" strike="noStrike">
              <a:solidFill>
                <a:schemeClr val="lt1"/>
              </a:solidFill>
              <a:latin typeface="Be Vietnam Pro"/>
              <a:ea typeface="Be Vietnam Pro"/>
              <a:cs typeface="Be Vietnam Pro"/>
              <a:sym typeface="Be Vietnam Pro"/>
            </a:endParaRPr>
          </a:p>
        </p:txBody>
      </p:sp>
      <p:sp>
        <p:nvSpPr>
          <p:cNvPr id="75" name="Google Shape;75;p7"/>
          <p:cNvSpPr/>
          <p:nvPr/>
        </p:nvSpPr>
        <p:spPr>
          <a:xfrm>
            <a:off x="8855075" y="3404791"/>
            <a:ext cx="25209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7"/>
          <p:cNvSpPr/>
          <p:nvPr/>
        </p:nvSpPr>
        <p:spPr>
          <a:xfrm>
            <a:off x="9061450" y="3598466"/>
            <a:ext cx="2171446"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A7B1C9"/>
              </a:buClr>
              <a:buSzPts val="1600"/>
              <a:buFont typeface="Space Grotesk"/>
              <a:buNone/>
            </a:pPr>
            <a:r>
              <a:rPr b="1" i="0" lang="en-US" sz="1600" u="none" cap="none" strike="noStrike">
                <a:solidFill>
                  <a:srgbClr val="A7B1C9"/>
                </a:solidFill>
                <a:latin typeface="Be Vietnam Pro"/>
                <a:ea typeface="Be Vietnam Pro"/>
                <a:cs typeface="Be Vietnam Pro"/>
                <a:sym typeface="Be Vietnam Pro"/>
              </a:rPr>
              <a:t>Dịch vụ ngoài</a:t>
            </a:r>
            <a:endParaRPr i="0" sz="1600" u="none" cap="none" strike="noStrike">
              <a:solidFill>
                <a:schemeClr val="lt1"/>
              </a:solidFill>
              <a:latin typeface="Be Vietnam Pro"/>
              <a:ea typeface="Be Vietnam Pro"/>
              <a:cs typeface="Be Vietnam Pro"/>
              <a:sym typeface="Be Vietnam Pro"/>
            </a:endParaRPr>
          </a:p>
        </p:txBody>
      </p:sp>
      <p:sp>
        <p:nvSpPr>
          <p:cNvPr id="77" name="Google Shape;77;p7"/>
          <p:cNvSpPr/>
          <p:nvPr/>
        </p:nvSpPr>
        <p:spPr>
          <a:xfrm>
            <a:off x="9166606" y="3931196"/>
            <a:ext cx="2058670"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Circle: ví giữ hộ</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Alchemy: blockchain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Cổng thanh toán thẻ</a:t>
            </a:r>
            <a:endParaRPr i="0" sz="1200" u="none" cap="none" strike="noStrike">
              <a:solidFill>
                <a:schemeClr val="lt1"/>
              </a:solidFill>
              <a:latin typeface="Be Vietnam Pro"/>
              <a:ea typeface="Be Vietnam Pro"/>
              <a:cs typeface="Be Vietnam Pro"/>
              <a:sym typeface="Be Vietnam Pro"/>
            </a:endParaRPr>
          </a:p>
        </p:txBody>
      </p:sp>
      <p:sp>
        <p:nvSpPr>
          <p:cNvPr id="78" name="Google Shape;78;p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Phạm vi sản phẩm · 3</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83" name="Shape 83"/>
        <p:cNvGrpSpPr/>
        <p:nvPr/>
      </p:nvGrpSpPr>
      <p:grpSpPr>
        <a:xfrm>
          <a:off x="0" y="0"/>
          <a:ext cx="0" cy="0"/>
          <a:chOff x="0" y="0"/>
          <a:chExt cx="0" cy="0"/>
        </a:xfrm>
      </p:grpSpPr>
      <p:sp>
        <p:nvSpPr>
          <p:cNvPr id="84" name="Google Shape;84;p8"/>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Ai dùng PW</a:t>
            </a:r>
            <a:endParaRPr sz="3200">
              <a:latin typeface="Be Vietnam Pro"/>
              <a:ea typeface="Be Vietnam Pro"/>
              <a:cs typeface="Be Vietnam Pro"/>
              <a:sym typeface="Be Vietnam Pro"/>
            </a:endParaRPr>
          </a:p>
        </p:txBody>
      </p:sp>
      <p:sp>
        <p:nvSpPr>
          <p:cNvPr id="85" name="Google Shape;85;p8"/>
          <p:cNvSpPr/>
          <p:nvPr/>
        </p:nvSpPr>
        <p:spPr>
          <a:xfrm>
            <a:off x="815975" y="1517005"/>
            <a:ext cx="2005310" cy="1581051"/>
          </a:xfrm>
          <a:prstGeom prst="roundRect">
            <a:avLst>
              <a:gd fmla="val 702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a:off x="996950" y="1697980"/>
            <a:ext cx="169416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700"/>
              <a:buFont typeface="Space Grotesk"/>
              <a:buNone/>
            </a:pPr>
            <a:r>
              <a:rPr b="1" i="0" lang="en-US" sz="1700" u="none" cap="none" strike="noStrike">
                <a:solidFill>
                  <a:srgbClr val="45DFA4"/>
                </a:solidFill>
                <a:latin typeface="Be Vietnam Pro"/>
                <a:ea typeface="Be Vietnam Pro"/>
                <a:cs typeface="Be Vietnam Pro"/>
                <a:sym typeface="Be Vietnam Pro"/>
              </a:rPr>
              <a:t>Visitor</a:t>
            </a:r>
            <a:endParaRPr i="0" sz="1700" u="none" cap="none" strike="noStrike">
              <a:solidFill>
                <a:schemeClr val="lt1"/>
              </a:solidFill>
              <a:latin typeface="Be Vietnam Pro"/>
              <a:ea typeface="Be Vietnam Pro"/>
              <a:cs typeface="Be Vietnam Pro"/>
              <a:sym typeface="Be Vietnam Pro"/>
            </a:endParaRPr>
          </a:p>
        </p:txBody>
      </p:sp>
      <p:sp>
        <p:nvSpPr>
          <p:cNvPr id="87" name="Google Shape;87;p8"/>
          <p:cNvSpPr/>
          <p:nvPr/>
        </p:nvSpPr>
        <p:spPr>
          <a:xfrm>
            <a:off x="996950" y="2033240"/>
            <a:ext cx="1694160" cy="90924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Chưa đăng nhập: vào waitlist, xem giá, tra cứu Directory, xác minh NFT, hỏi AI</a:t>
            </a:r>
            <a:endParaRPr i="0" sz="1200" u="none" cap="none" strike="noStrike">
              <a:solidFill>
                <a:schemeClr val="lt1"/>
              </a:solidFill>
              <a:latin typeface="Be Vietnam Pro"/>
              <a:ea typeface="Be Vietnam Pro"/>
              <a:cs typeface="Be Vietnam Pro"/>
              <a:sym typeface="Be Vietnam Pro"/>
            </a:endParaRPr>
          </a:p>
        </p:txBody>
      </p:sp>
      <p:sp>
        <p:nvSpPr>
          <p:cNvPr id="88" name="Google Shape;88;p8"/>
          <p:cNvSpPr/>
          <p:nvPr/>
        </p:nvSpPr>
        <p:spPr>
          <a:xfrm>
            <a:off x="2954635" y="1517005"/>
            <a:ext cx="2005360" cy="1581051"/>
          </a:xfrm>
          <a:prstGeom prst="roundRect">
            <a:avLst>
              <a:gd fmla="val 702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a:off x="3135610" y="1697980"/>
            <a:ext cx="169421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700"/>
              <a:buFont typeface="Space Grotesk"/>
              <a:buNone/>
            </a:pPr>
            <a:r>
              <a:rPr b="1" i="0" lang="en-US" sz="1700" u="none" cap="none" strike="noStrike">
                <a:solidFill>
                  <a:srgbClr val="45DFA4"/>
                </a:solidFill>
                <a:latin typeface="Be Vietnam Pro"/>
                <a:ea typeface="Be Vietnam Pro"/>
                <a:cs typeface="Be Vietnam Pro"/>
                <a:sym typeface="Be Vietnam Pro"/>
              </a:rPr>
              <a:t>Company</a:t>
            </a:r>
            <a:endParaRPr i="0" sz="1700" u="none" cap="none" strike="noStrike">
              <a:solidFill>
                <a:schemeClr val="lt1"/>
              </a:solidFill>
              <a:latin typeface="Be Vietnam Pro"/>
              <a:ea typeface="Be Vietnam Pro"/>
              <a:cs typeface="Be Vietnam Pro"/>
              <a:sym typeface="Be Vietnam Pro"/>
            </a:endParaRPr>
          </a:p>
        </p:txBody>
      </p:sp>
      <p:sp>
        <p:nvSpPr>
          <p:cNvPr id="90" name="Google Shape;90;p8"/>
          <p:cNvSpPr/>
          <p:nvPr/>
        </p:nvSpPr>
        <p:spPr>
          <a:xfrm>
            <a:off x="3135610" y="2033240"/>
            <a:ext cx="1694210" cy="90924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Doanh nghiệp: nộp KYC, được phân Class, mua hoặc tặng, giữ và chuyển NFT</a:t>
            </a:r>
            <a:endParaRPr i="0" sz="1200" u="none" cap="none" strike="noStrike">
              <a:solidFill>
                <a:schemeClr val="lt1"/>
              </a:solidFill>
              <a:latin typeface="Be Vietnam Pro"/>
              <a:ea typeface="Be Vietnam Pro"/>
              <a:cs typeface="Be Vietnam Pro"/>
              <a:sym typeface="Be Vietnam Pro"/>
            </a:endParaRPr>
          </a:p>
        </p:txBody>
      </p:sp>
      <p:sp>
        <p:nvSpPr>
          <p:cNvPr id="91" name="Google Shape;91;p8"/>
          <p:cNvSpPr/>
          <p:nvPr/>
        </p:nvSpPr>
        <p:spPr>
          <a:xfrm>
            <a:off x="5093345" y="1517005"/>
            <a:ext cx="2005310" cy="1581051"/>
          </a:xfrm>
          <a:prstGeom prst="roundRect">
            <a:avLst>
              <a:gd fmla="val 702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5274320" y="1697980"/>
            <a:ext cx="169416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700"/>
              <a:buFont typeface="Space Grotesk"/>
              <a:buNone/>
            </a:pPr>
            <a:r>
              <a:rPr b="1" i="0" lang="en-US" sz="1700" u="none" cap="none" strike="noStrike">
                <a:solidFill>
                  <a:srgbClr val="45DFA4"/>
                </a:solidFill>
                <a:latin typeface="Be Vietnam Pro"/>
                <a:ea typeface="Be Vietnam Pro"/>
                <a:cs typeface="Be Vietnam Pro"/>
                <a:sym typeface="Be Vietnam Pro"/>
              </a:rPr>
              <a:t>Individual</a:t>
            </a:r>
            <a:endParaRPr i="0" sz="1700" u="none" cap="none" strike="noStrike">
              <a:solidFill>
                <a:schemeClr val="lt1"/>
              </a:solidFill>
              <a:latin typeface="Be Vietnam Pro"/>
              <a:ea typeface="Be Vietnam Pro"/>
              <a:cs typeface="Be Vietnam Pro"/>
              <a:sym typeface="Be Vietnam Pro"/>
            </a:endParaRPr>
          </a:p>
        </p:txBody>
      </p:sp>
      <p:sp>
        <p:nvSpPr>
          <p:cNvPr id="93" name="Google Shape;93;p8"/>
          <p:cNvSpPr/>
          <p:nvPr/>
        </p:nvSpPr>
        <p:spPr>
          <a:xfrm>
            <a:off x="5274320" y="2033240"/>
            <a:ext cx="1694160" cy="68828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Cá nhân, người nổi tiếng: như Company, giá theo Class 0</a:t>
            </a:r>
            <a:endParaRPr i="0" sz="1200" u="none" cap="none" strike="noStrike">
              <a:solidFill>
                <a:schemeClr val="lt1"/>
              </a:solidFill>
              <a:latin typeface="Be Vietnam Pro"/>
              <a:ea typeface="Be Vietnam Pro"/>
              <a:cs typeface="Be Vietnam Pro"/>
              <a:sym typeface="Be Vietnam Pro"/>
            </a:endParaRPr>
          </a:p>
        </p:txBody>
      </p:sp>
      <p:sp>
        <p:nvSpPr>
          <p:cNvPr id="94" name="Google Shape;94;p8"/>
          <p:cNvSpPr/>
          <p:nvPr/>
        </p:nvSpPr>
        <p:spPr>
          <a:xfrm>
            <a:off x="7232005" y="1517005"/>
            <a:ext cx="2005360" cy="1581051"/>
          </a:xfrm>
          <a:prstGeom prst="roundRect">
            <a:avLst>
              <a:gd fmla="val 702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a:off x="7412980" y="1697980"/>
            <a:ext cx="169421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700"/>
              <a:buFont typeface="Space Grotesk"/>
              <a:buNone/>
            </a:pPr>
            <a:r>
              <a:rPr b="1" i="0" lang="en-US" sz="1700" u="none" cap="none" strike="noStrike">
                <a:solidFill>
                  <a:srgbClr val="45DFA4"/>
                </a:solidFill>
                <a:latin typeface="Be Vietnam Pro"/>
                <a:ea typeface="Be Vietnam Pro"/>
                <a:cs typeface="Be Vietnam Pro"/>
                <a:sym typeface="Be Vietnam Pro"/>
              </a:rPr>
              <a:t>PW Admin</a:t>
            </a:r>
            <a:endParaRPr i="0" sz="1700" u="none" cap="none" strike="noStrike">
              <a:solidFill>
                <a:schemeClr val="lt1"/>
              </a:solidFill>
              <a:latin typeface="Be Vietnam Pro"/>
              <a:ea typeface="Be Vietnam Pro"/>
              <a:cs typeface="Be Vietnam Pro"/>
              <a:sym typeface="Be Vietnam Pro"/>
            </a:endParaRPr>
          </a:p>
        </p:txBody>
      </p:sp>
      <p:sp>
        <p:nvSpPr>
          <p:cNvPr id="96" name="Google Shape;96;p8"/>
          <p:cNvSpPr/>
          <p:nvPr/>
        </p:nvSpPr>
        <p:spPr>
          <a:xfrm>
            <a:off x="7412980" y="2033240"/>
            <a:ext cx="1694210" cy="90924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Duyệt KYC, trao Award, thu hồi NFT, chỉnh điểm, xem Audit Logs</a:t>
            </a:r>
            <a:endParaRPr i="0" sz="1200" u="none" cap="none" strike="noStrike">
              <a:solidFill>
                <a:schemeClr val="lt1"/>
              </a:solidFill>
              <a:latin typeface="Be Vietnam Pro"/>
              <a:ea typeface="Be Vietnam Pro"/>
              <a:cs typeface="Be Vietnam Pro"/>
              <a:sym typeface="Be Vietnam Pro"/>
            </a:endParaRPr>
          </a:p>
        </p:txBody>
      </p:sp>
      <p:sp>
        <p:nvSpPr>
          <p:cNvPr id="97" name="Google Shape;97;p8"/>
          <p:cNvSpPr/>
          <p:nvPr/>
        </p:nvSpPr>
        <p:spPr>
          <a:xfrm>
            <a:off x="9370715" y="1517005"/>
            <a:ext cx="2005310" cy="1581051"/>
          </a:xfrm>
          <a:prstGeom prst="roundRect">
            <a:avLst>
              <a:gd fmla="val 702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9551690" y="1697980"/>
            <a:ext cx="169416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700"/>
              <a:buFont typeface="Space Grotesk"/>
              <a:buNone/>
            </a:pPr>
            <a:r>
              <a:rPr b="1" i="0" lang="en-US" sz="1700" u="none" cap="none" strike="noStrike">
                <a:solidFill>
                  <a:srgbClr val="45DFA4"/>
                </a:solidFill>
                <a:latin typeface="Be Vietnam Pro"/>
                <a:ea typeface="Be Vietnam Pro"/>
                <a:cs typeface="Be Vietnam Pro"/>
                <a:sym typeface="Be Vietnam Pro"/>
              </a:rPr>
              <a:t>PW System</a:t>
            </a:r>
            <a:endParaRPr i="0" sz="1700" u="none" cap="none" strike="noStrike">
              <a:solidFill>
                <a:schemeClr val="lt1"/>
              </a:solidFill>
              <a:latin typeface="Be Vietnam Pro"/>
              <a:ea typeface="Be Vietnam Pro"/>
              <a:cs typeface="Be Vietnam Pro"/>
              <a:sym typeface="Be Vietnam Pro"/>
            </a:endParaRPr>
          </a:p>
        </p:txBody>
      </p:sp>
      <p:sp>
        <p:nvSpPr>
          <p:cNvPr id="99" name="Google Shape;99;p8"/>
          <p:cNvSpPr/>
          <p:nvPr/>
        </p:nvSpPr>
        <p:spPr>
          <a:xfrm>
            <a:off x="9551690" y="2033240"/>
            <a:ext cx="1694160" cy="68828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Tự động: phân Class, tạo ví, tính giá, mint, chia điểm, xếp hạng</a:t>
            </a:r>
            <a:endParaRPr i="0" sz="1200" u="none" cap="none" strike="noStrike">
              <a:solidFill>
                <a:schemeClr val="lt1"/>
              </a:solidFill>
              <a:latin typeface="Be Vietnam Pro"/>
              <a:ea typeface="Be Vietnam Pro"/>
              <a:cs typeface="Be Vietnam Pro"/>
              <a:sym typeface="Be Vietnam Pro"/>
            </a:endParaRPr>
          </a:p>
        </p:txBody>
      </p:sp>
      <p:cxnSp>
        <p:nvCxnSpPr>
          <p:cNvPr id="100" name="Google Shape;100;p8"/>
          <p:cNvCxnSpPr/>
          <p:nvPr/>
        </p:nvCxnSpPr>
        <p:spPr>
          <a:xfrm flipH="1">
            <a:off x="824650" y="3355231"/>
            <a:ext cx="7200" cy="302400"/>
          </a:xfrm>
          <a:prstGeom prst="straightConnector1">
            <a:avLst/>
          </a:prstGeom>
          <a:noFill/>
          <a:ln cap="flat" cmpd="sng" w="38100">
            <a:solidFill>
              <a:srgbClr val="F5B94A"/>
            </a:solidFill>
            <a:prstDash val="solid"/>
            <a:round/>
            <a:headEnd len="sm" w="sm" type="none"/>
            <a:tailEnd len="sm" w="sm" type="none"/>
          </a:ln>
        </p:spPr>
      </p:cxnSp>
      <p:sp>
        <p:nvSpPr>
          <p:cNvPr id="101" name="Google Shape;101;p8"/>
          <p:cNvSpPr/>
          <p:nvPr/>
        </p:nvSpPr>
        <p:spPr>
          <a:xfrm>
            <a:off x="1028700" y="3393331"/>
            <a:ext cx="10661015" cy="3060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7ECF8"/>
              </a:buClr>
              <a:buSzPts val="1700"/>
              <a:buFont typeface="Inter"/>
              <a:buNone/>
            </a:pPr>
            <a:r>
              <a:rPr b="1" lang="en-US" sz="1700">
                <a:solidFill>
                  <a:srgbClr val="E7ECF8"/>
                </a:solidFill>
                <a:latin typeface="Be Vietnam Pro"/>
                <a:ea typeface="Be Vietnam Pro"/>
                <a:cs typeface="Be Vietnam Pro"/>
                <a:sym typeface="Be Vietnam Pro"/>
              </a:rPr>
              <a:t>KYC là cửa ngõ: chưa được duyệt thì chưa thể mua hoặc nhận danh hiệu.</a:t>
            </a:r>
            <a:endParaRPr i="0" sz="1700" u="none" cap="none" strike="noStrike">
              <a:solidFill>
                <a:schemeClr val="lt1"/>
              </a:solidFill>
              <a:latin typeface="Be Vietnam Pro"/>
              <a:ea typeface="Be Vietnam Pro"/>
              <a:cs typeface="Be Vietnam Pro"/>
              <a:sym typeface="Be Vietnam Pro"/>
            </a:endParaRPr>
          </a:p>
        </p:txBody>
      </p:sp>
      <p:sp>
        <p:nvSpPr>
          <p:cNvPr id="102" name="Google Shape;102;p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Người dùng · 4</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107" name="Shape 107"/>
        <p:cNvGrpSpPr/>
        <p:nvPr/>
      </p:nvGrpSpPr>
      <p:grpSpPr>
        <a:xfrm>
          <a:off x="0" y="0"/>
          <a:ext cx="0" cy="0"/>
          <a:chOff x="0" y="0"/>
          <a:chExt cx="0" cy="0"/>
        </a:xfrm>
      </p:grpSpPr>
      <p:sp>
        <p:nvSpPr>
          <p:cNvPr id="108" name="Google Shape;108;p9"/>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Danh hiệu và NFT</a:t>
            </a:r>
            <a:endParaRPr sz="3200">
              <a:latin typeface="Be Vietnam Pro"/>
              <a:ea typeface="Be Vietnam Pro"/>
              <a:cs typeface="Be Vietnam Pro"/>
              <a:sym typeface="Be Vietnam Pro"/>
            </a:endParaRPr>
          </a:p>
        </p:txBody>
      </p:sp>
      <p:sp>
        <p:nvSpPr>
          <p:cNvPr id="109" name="Google Shape;109;p9"/>
          <p:cNvSpPr/>
          <p:nvPr/>
        </p:nvSpPr>
        <p:spPr>
          <a:xfrm>
            <a:off x="815975" y="1517005"/>
            <a:ext cx="3414167" cy="1289000"/>
          </a:xfrm>
          <a:prstGeom prst="roundRect">
            <a:avLst>
              <a:gd fmla="val 8621"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1047750" y="1748780"/>
            <a:ext cx="303913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800"/>
              <a:buFont typeface="Space Grotesk"/>
              <a:buNone/>
            </a:pPr>
            <a:r>
              <a:rPr b="1" i="0" lang="en-US" sz="1800" u="none" cap="none" strike="noStrike">
                <a:solidFill>
                  <a:srgbClr val="45DFA4"/>
                </a:solidFill>
                <a:latin typeface="Be Vietnam Pro"/>
                <a:ea typeface="Be Vietnam Pro"/>
                <a:cs typeface="Be Vietnam Pro"/>
                <a:sym typeface="Be Vietnam Pro"/>
              </a:rPr>
              <a:t>Philanthropist</a:t>
            </a:r>
            <a:endParaRPr i="0" sz="1800" u="none" cap="none" strike="noStrike">
              <a:solidFill>
                <a:schemeClr val="lt1"/>
              </a:solidFill>
              <a:latin typeface="Be Vietnam Pro"/>
              <a:ea typeface="Be Vietnam Pro"/>
              <a:cs typeface="Be Vietnam Pro"/>
              <a:sym typeface="Be Vietnam Pro"/>
            </a:endParaRPr>
          </a:p>
        </p:txBody>
      </p:sp>
      <p:sp>
        <p:nvSpPr>
          <p:cNvPr id="111" name="Google Shape;111;p9"/>
          <p:cNvSpPr/>
          <p:nvPr/>
        </p:nvSpPr>
        <p:spPr>
          <a:xfrm>
            <a:off x="1047750" y="2111970"/>
            <a:ext cx="3039135"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i="0" lang="en-US" sz="1300" u="none" cap="none" strike="noStrike">
                <a:solidFill>
                  <a:srgbClr val="A7B1C9"/>
                </a:solidFill>
                <a:latin typeface="Be Vietnam Pro"/>
                <a:ea typeface="Be Vietnam Pro"/>
                <a:cs typeface="Be Vietnam Pro"/>
                <a:sym typeface="Be Vietnam Pro"/>
              </a:rPr>
              <a:t>Nhà từ thiện: ghi nhận đóng góp từ thiện, ESG.</a:t>
            </a:r>
            <a:endParaRPr i="0" sz="1300" u="none" cap="none" strike="noStrike">
              <a:solidFill>
                <a:schemeClr val="lt1"/>
              </a:solidFill>
              <a:latin typeface="Be Vietnam Pro"/>
              <a:ea typeface="Be Vietnam Pro"/>
              <a:cs typeface="Be Vietnam Pro"/>
              <a:sym typeface="Be Vietnam Pro"/>
            </a:endParaRPr>
          </a:p>
        </p:txBody>
      </p:sp>
      <p:sp>
        <p:nvSpPr>
          <p:cNvPr id="112" name="Google Shape;112;p9"/>
          <p:cNvSpPr/>
          <p:nvPr/>
        </p:nvSpPr>
        <p:spPr>
          <a:xfrm>
            <a:off x="4388892" y="1517005"/>
            <a:ext cx="3414216" cy="1289000"/>
          </a:xfrm>
          <a:prstGeom prst="roundRect">
            <a:avLst>
              <a:gd fmla="val 8621"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4620667" y="1748780"/>
            <a:ext cx="3039186"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800"/>
              <a:buFont typeface="Space Grotesk"/>
              <a:buNone/>
            </a:pPr>
            <a:r>
              <a:rPr b="1" i="0" lang="en-US" sz="1800" u="none" cap="none" strike="noStrike">
                <a:solidFill>
                  <a:srgbClr val="6C9CFF"/>
                </a:solidFill>
                <a:latin typeface="Be Vietnam Pro"/>
                <a:ea typeface="Be Vietnam Pro"/>
                <a:cs typeface="Be Vietnam Pro"/>
                <a:sym typeface="Be Vietnam Pro"/>
              </a:rPr>
              <a:t>Investor</a:t>
            </a:r>
            <a:endParaRPr i="0" sz="1800" u="none" cap="none" strike="noStrike">
              <a:solidFill>
                <a:schemeClr val="lt1"/>
              </a:solidFill>
              <a:latin typeface="Be Vietnam Pro"/>
              <a:ea typeface="Be Vietnam Pro"/>
              <a:cs typeface="Be Vietnam Pro"/>
              <a:sym typeface="Be Vietnam Pro"/>
            </a:endParaRPr>
          </a:p>
        </p:txBody>
      </p:sp>
      <p:sp>
        <p:nvSpPr>
          <p:cNvPr id="114" name="Google Shape;114;p9"/>
          <p:cNvSpPr/>
          <p:nvPr/>
        </p:nvSpPr>
        <p:spPr>
          <a:xfrm>
            <a:off x="4620667" y="2111970"/>
            <a:ext cx="3039186"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i="0" lang="en-US" sz="1300" u="none" cap="none" strike="noStrike">
                <a:solidFill>
                  <a:srgbClr val="A7B1C9"/>
                </a:solidFill>
                <a:latin typeface="Be Vietnam Pro"/>
                <a:ea typeface="Be Vietnam Pro"/>
                <a:cs typeface="Be Vietnam Pro"/>
                <a:sym typeface="Be Vietnam Pro"/>
              </a:rPr>
              <a:t>Nhà đầu tư: ghi nhận đầu tư và đồng đầu tư chiến lược.</a:t>
            </a:r>
            <a:endParaRPr i="0" sz="1300" u="none" cap="none" strike="noStrike">
              <a:solidFill>
                <a:schemeClr val="lt1"/>
              </a:solidFill>
              <a:latin typeface="Be Vietnam Pro"/>
              <a:ea typeface="Be Vietnam Pro"/>
              <a:cs typeface="Be Vietnam Pro"/>
              <a:sym typeface="Be Vietnam Pro"/>
            </a:endParaRPr>
          </a:p>
        </p:txBody>
      </p:sp>
      <p:sp>
        <p:nvSpPr>
          <p:cNvPr id="115" name="Google Shape;115;p9"/>
          <p:cNvSpPr/>
          <p:nvPr/>
        </p:nvSpPr>
        <p:spPr>
          <a:xfrm>
            <a:off x="7961858" y="1517005"/>
            <a:ext cx="3414167" cy="1289000"/>
          </a:xfrm>
          <a:prstGeom prst="roundRect">
            <a:avLst>
              <a:gd fmla="val 8621"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8193633" y="1748780"/>
            <a:ext cx="3039135"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800"/>
              <a:buFont typeface="Space Grotesk"/>
              <a:buNone/>
            </a:pPr>
            <a:r>
              <a:rPr b="1" i="0" lang="en-US" sz="1800" u="none" cap="none" strike="noStrike">
                <a:solidFill>
                  <a:srgbClr val="F5B94A"/>
                </a:solidFill>
                <a:latin typeface="Be Vietnam Pro"/>
                <a:ea typeface="Be Vietnam Pro"/>
                <a:cs typeface="Be Vietnam Pro"/>
                <a:sym typeface="Be Vietnam Pro"/>
              </a:rPr>
              <a:t>Bridge</a:t>
            </a:r>
            <a:endParaRPr i="0" sz="1800" u="none" cap="none" strike="noStrike">
              <a:solidFill>
                <a:schemeClr val="lt1"/>
              </a:solidFill>
              <a:latin typeface="Be Vietnam Pro"/>
              <a:ea typeface="Be Vietnam Pro"/>
              <a:cs typeface="Be Vietnam Pro"/>
              <a:sym typeface="Be Vietnam Pro"/>
            </a:endParaRPr>
          </a:p>
        </p:txBody>
      </p:sp>
      <p:sp>
        <p:nvSpPr>
          <p:cNvPr id="117" name="Google Shape;117;p9"/>
          <p:cNvSpPr/>
          <p:nvPr/>
        </p:nvSpPr>
        <p:spPr>
          <a:xfrm>
            <a:off x="8193633" y="2111970"/>
            <a:ext cx="3039135"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i="0" lang="en-US" sz="1300" u="none" cap="none" strike="noStrike">
                <a:solidFill>
                  <a:srgbClr val="A7B1C9"/>
                </a:solidFill>
                <a:latin typeface="Be Vietnam Pro"/>
                <a:ea typeface="Be Vietnam Pro"/>
                <a:cs typeface="Be Vietnam Pro"/>
                <a:sym typeface="Be Vietnam Pro"/>
              </a:rPr>
              <a:t>Cầu nối: ghi nhận kết nối đối tác và thương vụ.</a:t>
            </a:r>
            <a:endParaRPr i="0" sz="1300" u="none" cap="none" strike="noStrike">
              <a:solidFill>
                <a:schemeClr val="lt1"/>
              </a:solidFill>
              <a:latin typeface="Be Vietnam Pro"/>
              <a:ea typeface="Be Vietnam Pro"/>
              <a:cs typeface="Be Vietnam Pro"/>
              <a:sym typeface="Be Vietnam Pro"/>
            </a:endParaRPr>
          </a:p>
        </p:txBody>
      </p:sp>
      <p:sp>
        <p:nvSpPr>
          <p:cNvPr id="118" name="Google Shape;118;p9"/>
          <p:cNvSpPr/>
          <p:nvPr/>
        </p:nvSpPr>
        <p:spPr>
          <a:xfrm>
            <a:off x="815975" y="3066355"/>
            <a:ext cx="52006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1022350" y="3260030"/>
            <a:ext cx="4991100"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Distinction NFT (danh hiệu mua hoặc được tặng)</a:t>
            </a:r>
            <a:endParaRPr i="0" sz="1600" u="none" cap="none" strike="noStrike">
              <a:solidFill>
                <a:schemeClr val="lt1"/>
              </a:solidFill>
              <a:latin typeface="Be Vietnam Pro"/>
              <a:ea typeface="Be Vietnam Pro"/>
              <a:cs typeface="Be Vietnam Pro"/>
              <a:sym typeface="Be Vietnam Pro"/>
            </a:endParaRPr>
          </a:p>
        </p:txBody>
      </p:sp>
      <p:sp>
        <p:nvSpPr>
          <p:cNvPr id="120" name="Google Shape;120;p9"/>
          <p:cNvSpPr/>
          <p:nvPr/>
        </p:nvSpPr>
        <p:spPr>
          <a:xfrm>
            <a:off x="1127506" y="3592761"/>
            <a:ext cx="4818761"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Mint ngay khi thanh toán xong</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Chuyển tối đa 1 lần, sang ví của chính chủ</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Sau đó bị khoá trong ví đó</a:t>
            </a:r>
            <a:endParaRPr i="0" sz="1200" u="none" cap="none" strike="noStrike">
              <a:solidFill>
                <a:schemeClr val="lt1"/>
              </a:solidFill>
              <a:latin typeface="Be Vietnam Pro"/>
              <a:ea typeface="Be Vietnam Pro"/>
              <a:cs typeface="Be Vietnam Pro"/>
              <a:sym typeface="Be Vietnam Pro"/>
            </a:endParaRPr>
          </a:p>
        </p:txBody>
      </p:sp>
      <p:sp>
        <p:nvSpPr>
          <p:cNvPr id="121" name="Google Shape;121;p9"/>
          <p:cNvSpPr/>
          <p:nvPr/>
        </p:nvSpPr>
        <p:spPr>
          <a:xfrm>
            <a:off x="6175375" y="3066355"/>
            <a:ext cx="52006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6381750" y="3260030"/>
            <a:ext cx="4931537"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Award NFT (PW trao)</a:t>
            </a:r>
            <a:endParaRPr i="0" sz="1600" u="none" cap="none" strike="noStrike">
              <a:solidFill>
                <a:schemeClr val="lt1"/>
              </a:solidFill>
              <a:latin typeface="Be Vietnam Pro"/>
              <a:ea typeface="Be Vietnam Pro"/>
              <a:cs typeface="Be Vietnam Pro"/>
              <a:sym typeface="Be Vietnam Pro"/>
            </a:endParaRPr>
          </a:p>
        </p:txBody>
      </p:sp>
      <p:sp>
        <p:nvSpPr>
          <p:cNvPr id="123" name="Google Shape;123;p9"/>
          <p:cNvSpPr/>
          <p:nvPr/>
        </p:nvSpPr>
        <p:spPr>
          <a:xfrm>
            <a:off x="6486906" y="3592761"/>
            <a:ext cx="4818761"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Admin trao, mint thẳng cho người nhận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Soulbound: không chuyển được</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Admin có thể thu hồi, không sinh điểm</a:t>
            </a:r>
            <a:endParaRPr i="0" sz="1200" u="none" cap="none" strike="noStrike">
              <a:solidFill>
                <a:schemeClr val="lt1"/>
              </a:solidFill>
              <a:latin typeface="Be Vietnam Pro"/>
              <a:ea typeface="Be Vietnam Pro"/>
              <a:cs typeface="Be Vietnam Pro"/>
              <a:sym typeface="Be Vietnam Pro"/>
            </a:endParaRPr>
          </a:p>
        </p:txBody>
      </p:sp>
      <p:sp>
        <p:nvSpPr>
          <p:cNvPr id="124" name="Google Shape;124;p9"/>
          <p:cNvSpPr/>
          <p:nvPr/>
        </p:nvSpPr>
        <p:spPr>
          <a:xfrm>
            <a:off x="812800" y="4706491"/>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400"/>
              <a:buFont typeface="Inter"/>
              <a:buNone/>
            </a:pPr>
            <a:r>
              <a:rPr i="0" lang="en-US" sz="1400" u="none" cap="none" strike="noStrike">
                <a:solidFill>
                  <a:srgbClr val="A7B1C9"/>
                </a:solidFill>
                <a:latin typeface="Be Vietnam Pro"/>
                <a:ea typeface="Be Vietnam Pro"/>
                <a:cs typeface="Be Vietnam Pro"/>
                <a:sym typeface="Be Vietnam Pro"/>
              </a:rPr>
              <a:t>Xếp hạng tự động theo tổng số NFT nắm giữ (trong ví PW hoặc ví đã liên kết).</a:t>
            </a:r>
            <a:endParaRPr i="0" sz="1400" u="none" cap="none" strike="noStrike">
              <a:solidFill>
                <a:schemeClr val="lt1"/>
              </a:solidFill>
              <a:latin typeface="Be Vietnam Pro"/>
              <a:ea typeface="Be Vietnam Pro"/>
              <a:cs typeface="Be Vietnam Pro"/>
              <a:sym typeface="Be Vietnam Pro"/>
            </a:endParaRPr>
          </a:p>
        </p:txBody>
      </p:sp>
      <p:sp>
        <p:nvSpPr>
          <p:cNvPr id="125" name="Google Shape;125;p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Danh hiệu · 5</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130" name="Shape 130"/>
        <p:cNvGrpSpPr/>
        <p:nvPr/>
      </p:nvGrpSpPr>
      <p:grpSpPr>
        <a:xfrm>
          <a:off x="0" y="0"/>
          <a:ext cx="0" cy="0"/>
          <a:chOff x="0" y="0"/>
          <a:chExt cx="0" cy="0"/>
        </a:xfrm>
      </p:grpSpPr>
      <p:sp>
        <p:nvSpPr>
          <p:cNvPr id="131" name="Google Shape;131;p10"/>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Giá theo 8 Class, giảm giá và điểm thưởng</a:t>
            </a:r>
            <a:endParaRPr sz="3200">
              <a:latin typeface="Be Vietnam Pro"/>
              <a:ea typeface="Be Vietnam Pro"/>
              <a:cs typeface="Be Vietnam Pro"/>
              <a:sym typeface="Be Vietnam Pro"/>
            </a:endParaRPr>
          </a:p>
        </p:txBody>
      </p:sp>
      <p:graphicFrame>
        <p:nvGraphicFramePr>
          <p:cNvPr id="132" name="Google Shape;132;p10"/>
          <p:cNvGraphicFramePr/>
          <p:nvPr/>
        </p:nvGraphicFramePr>
        <p:xfrm>
          <a:off x="812800" y="1549400"/>
          <a:ext cx="3000000" cy="3000000"/>
        </p:xfrm>
        <a:graphic>
          <a:graphicData uri="http://schemas.openxmlformats.org/drawingml/2006/table">
            <a:tbl>
              <a:tblPr>
                <a:noFill/>
                <a:tableStyleId>{A4E19B90-F44A-4595-9479-59512D2CCDE3}</a:tableStyleId>
              </a:tblPr>
              <a:tblGrid>
                <a:gridCol w="1007750"/>
                <a:gridCol w="1612400"/>
                <a:gridCol w="1679575"/>
                <a:gridCol w="1074925"/>
                <a:gridCol w="1343650"/>
              </a:tblGrid>
              <a:tr h="359325">
                <a:tc>
                  <a:txBody>
                    <a:bodyPr/>
                    <a:lstStyle/>
                    <a:p>
                      <a:pPr indent="0" lvl="0" marL="0" marR="0" rtl="0" algn="l">
                        <a:lnSpc>
                          <a:spcPct val="140000"/>
                        </a:lnSpc>
                        <a:spcBef>
                          <a:spcPts val="0"/>
                        </a:spcBef>
                        <a:spcAft>
                          <a:spcPts val="0"/>
                        </a:spcAft>
                        <a:buClr>
                          <a:srgbClr val="6C9CFF"/>
                        </a:buClr>
                        <a:buSzPts val="1300"/>
                        <a:buFont typeface="Inter"/>
                        <a:buNone/>
                      </a:pPr>
                      <a:r>
                        <a:rPr b="1" lang="en-US" sz="1300" u="none" cap="none" strike="noStrike">
                          <a:solidFill>
                            <a:srgbClr val="6C9CFF"/>
                          </a:solidFill>
                          <a:latin typeface="Be Vietnam Pro"/>
                          <a:ea typeface="Be Vietnam Pro"/>
                          <a:cs typeface="Be Vietnam Pro"/>
                          <a:sym typeface="Be Vietnam Pro"/>
                        </a:rPr>
                        <a:t>Class</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50535C"/>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50535C"/>
                      </a:solidFill>
                      <a:prstDash val="solid"/>
                      <a:round/>
                      <a:headEnd len="sm" w="sm" type="none"/>
                      <a:tailEnd len="sm" w="sm" type="none"/>
                    </a:lnB>
                    <a:solidFill>
                      <a:srgbClr val="202431"/>
                    </a:solidFill>
                  </a:tcPr>
                </a:tc>
                <a:tc>
                  <a:txBody>
                    <a:bodyPr/>
                    <a:lstStyle/>
                    <a:p>
                      <a:pPr indent="0" lvl="0" marL="0" marR="0" rtl="0" algn="l">
                        <a:lnSpc>
                          <a:spcPct val="140000"/>
                        </a:lnSpc>
                        <a:spcBef>
                          <a:spcPts val="0"/>
                        </a:spcBef>
                        <a:spcAft>
                          <a:spcPts val="0"/>
                        </a:spcAft>
                        <a:buClr>
                          <a:srgbClr val="6C9CFF"/>
                        </a:buClr>
                        <a:buSzPts val="1300"/>
                        <a:buFont typeface="Inter"/>
                        <a:buNone/>
                      </a:pPr>
                      <a:r>
                        <a:rPr b="1" lang="en-US" sz="1300" u="none" cap="none" strike="noStrike">
                          <a:solidFill>
                            <a:srgbClr val="6C9CFF"/>
                          </a:solidFill>
                          <a:latin typeface="Be Vietnam Pro"/>
                          <a:ea typeface="Be Vietnam Pro"/>
                          <a:cs typeface="Be Vietnam Pro"/>
                          <a:sym typeface="Be Vietnam Pro"/>
                        </a:rPr>
                        <a:t>Nhân sự</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50535C"/>
                      </a:solidFill>
                      <a:prstDash val="solid"/>
                      <a:round/>
                      <a:headEnd len="sm" w="sm" type="none"/>
                      <a:tailEnd len="sm" w="sm" type="none"/>
                    </a:lnL>
                    <a:lnR cap="flat" cmpd="sng" w="12700">
                      <a:solidFill>
                        <a:srgbClr val="50535C"/>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50535C"/>
                      </a:solidFill>
                      <a:prstDash val="solid"/>
                      <a:round/>
                      <a:headEnd len="sm" w="sm" type="none"/>
                      <a:tailEnd len="sm" w="sm" type="none"/>
                    </a:lnB>
                    <a:solidFill>
                      <a:srgbClr val="202431"/>
                    </a:solidFill>
                  </a:tcPr>
                </a:tc>
                <a:tc>
                  <a:txBody>
                    <a:bodyPr/>
                    <a:lstStyle/>
                    <a:p>
                      <a:pPr indent="0" lvl="0" marL="0" marR="0" rtl="0" algn="r">
                        <a:lnSpc>
                          <a:spcPct val="140000"/>
                        </a:lnSpc>
                        <a:spcBef>
                          <a:spcPts val="0"/>
                        </a:spcBef>
                        <a:spcAft>
                          <a:spcPts val="0"/>
                        </a:spcAft>
                        <a:buClr>
                          <a:srgbClr val="6C9CFF"/>
                        </a:buClr>
                        <a:buSzPts val="1300"/>
                        <a:buFont typeface="Inter"/>
                        <a:buNone/>
                      </a:pPr>
                      <a:r>
                        <a:rPr b="1" lang="en-US" sz="1300" u="none" cap="none" strike="noStrike">
                          <a:solidFill>
                            <a:srgbClr val="6C9CFF"/>
                          </a:solidFill>
                          <a:latin typeface="Be Vietnam Pro"/>
                          <a:ea typeface="Be Vietnam Pro"/>
                          <a:cs typeface="Be Vietnam Pro"/>
                          <a:sym typeface="Be Vietnam Pro"/>
                        </a:rPr>
                        <a:t>Philanthropist</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50535C"/>
                      </a:solidFill>
                      <a:prstDash val="solid"/>
                      <a:round/>
                      <a:headEnd len="sm" w="sm" type="none"/>
                      <a:tailEnd len="sm" w="sm" type="none"/>
                    </a:lnL>
                    <a:lnR cap="flat" cmpd="sng" w="12700">
                      <a:solidFill>
                        <a:srgbClr val="50535C"/>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50535C"/>
                      </a:solidFill>
                      <a:prstDash val="solid"/>
                      <a:round/>
                      <a:headEnd len="sm" w="sm" type="none"/>
                      <a:tailEnd len="sm" w="sm" type="none"/>
                    </a:lnB>
                    <a:solidFill>
                      <a:srgbClr val="202431"/>
                    </a:solidFill>
                  </a:tcPr>
                </a:tc>
                <a:tc>
                  <a:txBody>
                    <a:bodyPr/>
                    <a:lstStyle/>
                    <a:p>
                      <a:pPr indent="0" lvl="0" marL="0" marR="0" rtl="0" algn="r">
                        <a:lnSpc>
                          <a:spcPct val="140000"/>
                        </a:lnSpc>
                        <a:spcBef>
                          <a:spcPts val="0"/>
                        </a:spcBef>
                        <a:spcAft>
                          <a:spcPts val="0"/>
                        </a:spcAft>
                        <a:buClr>
                          <a:srgbClr val="6C9CFF"/>
                        </a:buClr>
                        <a:buSzPts val="1300"/>
                        <a:buFont typeface="Inter"/>
                        <a:buNone/>
                      </a:pPr>
                      <a:r>
                        <a:rPr b="1" lang="en-US" sz="1300" u="none" cap="none" strike="noStrike">
                          <a:solidFill>
                            <a:srgbClr val="6C9CFF"/>
                          </a:solidFill>
                          <a:latin typeface="Be Vietnam Pro"/>
                          <a:ea typeface="Be Vietnam Pro"/>
                          <a:cs typeface="Be Vietnam Pro"/>
                          <a:sym typeface="Be Vietnam Pro"/>
                        </a:rPr>
                        <a:t>Bridge</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50535C"/>
                      </a:solidFill>
                      <a:prstDash val="solid"/>
                      <a:round/>
                      <a:headEnd len="sm" w="sm" type="none"/>
                      <a:tailEnd len="sm" w="sm" type="none"/>
                    </a:lnL>
                    <a:lnR cap="flat" cmpd="sng" w="12700">
                      <a:solidFill>
                        <a:srgbClr val="50535C"/>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50535C"/>
                      </a:solidFill>
                      <a:prstDash val="solid"/>
                      <a:round/>
                      <a:headEnd len="sm" w="sm" type="none"/>
                      <a:tailEnd len="sm" w="sm" type="none"/>
                    </a:lnB>
                    <a:solidFill>
                      <a:srgbClr val="202431"/>
                    </a:solidFill>
                  </a:tcPr>
                </a:tc>
                <a:tc>
                  <a:txBody>
                    <a:bodyPr/>
                    <a:lstStyle/>
                    <a:p>
                      <a:pPr indent="0" lvl="0" marL="0" marR="0" rtl="0" algn="r">
                        <a:lnSpc>
                          <a:spcPct val="140000"/>
                        </a:lnSpc>
                        <a:spcBef>
                          <a:spcPts val="0"/>
                        </a:spcBef>
                        <a:spcAft>
                          <a:spcPts val="0"/>
                        </a:spcAft>
                        <a:buClr>
                          <a:srgbClr val="6C9CFF"/>
                        </a:buClr>
                        <a:buSzPts val="1300"/>
                        <a:buFont typeface="Inter"/>
                        <a:buNone/>
                      </a:pPr>
                      <a:r>
                        <a:rPr b="1" lang="en-US" sz="1300" u="none" cap="none" strike="noStrike">
                          <a:solidFill>
                            <a:srgbClr val="6C9CFF"/>
                          </a:solidFill>
                          <a:latin typeface="Be Vietnam Pro"/>
                          <a:ea typeface="Be Vietnam Pro"/>
                          <a:cs typeface="Be Vietnam Pro"/>
                          <a:sym typeface="Be Vietnam Pro"/>
                        </a:rPr>
                        <a:t>Investor</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50535C"/>
                      </a:solidFill>
                      <a:prstDash val="solid"/>
                      <a:round/>
                      <a:headEnd len="sm" w="sm" type="none"/>
                      <a:tailEnd len="sm" w="sm" type="none"/>
                    </a:lnL>
                    <a:lnR cap="flat" cmpd="sng" w="12700">
                      <a:solidFill>
                        <a:srgbClr val="50535C"/>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50535C"/>
                      </a:solidFill>
                      <a:prstDash val="solid"/>
                      <a:round/>
                      <a:headEnd len="sm" w="sm" type="none"/>
                      <a:tailEnd len="sm" w="sm" type="none"/>
                    </a:lnB>
                    <a:solidFill>
                      <a:srgbClr val="202431"/>
                    </a:solidFill>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50535C"/>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1–10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50535C"/>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50535C"/>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50535C"/>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2,000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50535C"/>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1</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11–50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2,000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3,000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2</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51–200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2,000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3,000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4,000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3</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201–500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3,000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4,500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6,000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4</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501–1,000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4,500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6,500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9,000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5</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1,001–5,000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6,500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9,500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13,000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6</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5,001–9,999</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9,000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13,000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18,000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45DFA4"/>
                        </a:buClr>
                        <a:buSzPts val="1300"/>
                        <a:buFont typeface="Inter"/>
                        <a:buNone/>
                      </a:pPr>
                      <a:r>
                        <a:rPr lang="en-US" sz="1300" u="none" cap="none" strike="noStrike">
                          <a:solidFill>
                            <a:srgbClr val="45DFA4"/>
                          </a:solidFill>
                          <a:latin typeface="Be Vietnam Pro"/>
                          <a:ea typeface="Be Vietnam Pro"/>
                          <a:cs typeface="Be Vietnam Pro"/>
                          <a:sym typeface="Be Vietnam Pro"/>
                        </a:rPr>
                        <a:t>Class 7</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10,000+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12,000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18,000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E7ECF8"/>
                        </a:buClr>
                        <a:buSzPts val="1300"/>
                        <a:buFont typeface="Inter"/>
                        <a:buNone/>
                      </a:pPr>
                      <a:r>
                        <a:rPr lang="en-US" sz="1300" u="none" cap="none" strike="noStrike">
                          <a:solidFill>
                            <a:srgbClr val="E7ECF8"/>
                          </a:solidFill>
                          <a:latin typeface="Be Vietnam Pro"/>
                          <a:ea typeface="Be Vietnam Pro"/>
                          <a:cs typeface="Be Vietnam Pro"/>
                          <a:sym typeface="Be Vietnam Pro"/>
                        </a:rPr>
                        <a:t>25,000</a:t>
                      </a:r>
                      <a:endParaRPr sz="1300" u="none" cap="none" strike="noStrike">
                        <a:latin typeface="Be Vietnam Pro"/>
                        <a:ea typeface="Be Vietnam Pro"/>
                        <a:cs typeface="Be Vietnam Pro"/>
                        <a:sym typeface="Be Vietnam Pro"/>
                      </a:endParaRPr>
                    </a:p>
                  </a:txBody>
                  <a:tcPr marT="57775" marB="57775" marR="57775" marL="57775" anchor="ctr">
                    <a:lnL cap="flat" cmpd="sng" w="12700">
                      <a:solidFill>
                        <a:srgbClr val="41454F"/>
                      </a:solidFill>
                      <a:prstDash val="solid"/>
                      <a:round/>
                      <a:headEnd len="sm" w="sm" type="none"/>
                      <a:tailEnd len="sm" w="sm" type="none"/>
                    </a:lnL>
                    <a:lnR cap="flat" cmpd="sng" w="12700">
                      <a:solidFill>
                        <a:srgbClr val="41454F"/>
                      </a:solidFill>
                      <a:prstDash val="solid"/>
                      <a:round/>
                      <a:headEnd len="sm" w="sm" type="none"/>
                      <a:tailEnd len="sm" w="sm" type="none"/>
                    </a:lnR>
                    <a:lnT cap="flat" cmpd="sng" w="12700">
                      <a:solidFill>
                        <a:srgbClr val="41454F"/>
                      </a:solidFill>
                      <a:prstDash val="solid"/>
                      <a:round/>
                      <a:headEnd len="sm" w="sm" type="none"/>
                      <a:tailEnd len="sm" w="sm" type="none"/>
                    </a:lnT>
                    <a:lnB cap="flat" cmpd="sng" w="12700">
                      <a:solidFill>
                        <a:srgbClr val="41454F"/>
                      </a:solidFill>
                      <a:prstDash val="solid"/>
                      <a:round/>
                      <a:headEnd len="sm" w="sm" type="none"/>
                      <a:tailEnd len="sm" w="sm" type="none"/>
                    </a:lnB>
                  </a:tcPr>
                </a:tc>
              </a:tr>
            </a:tbl>
          </a:graphicData>
        </a:graphic>
      </p:graphicFrame>
      <p:sp>
        <p:nvSpPr>
          <p:cNvPr id="133" name="Google Shape;133;p10"/>
          <p:cNvSpPr/>
          <p:nvPr/>
        </p:nvSpPr>
        <p:spPr>
          <a:xfrm>
            <a:off x="7747000" y="1549400"/>
            <a:ext cx="3949800" cy="914400"/>
          </a:xfrm>
          <a:prstGeom prst="roundRect">
            <a:avLst>
              <a:gd fmla="val 977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0"/>
          <p:cNvSpPr/>
          <p:nvPr/>
        </p:nvSpPr>
        <p:spPr>
          <a:xfrm>
            <a:off x="8001000" y="1727200"/>
            <a:ext cx="3441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1500"/>
              <a:buFont typeface="Space Grotesk"/>
              <a:buNone/>
            </a:pPr>
            <a:r>
              <a:rPr b="1" i="0" lang="en-US" sz="1500" u="none" cap="none" strike="noStrike">
                <a:solidFill>
                  <a:srgbClr val="E7ECF8"/>
                </a:solidFill>
                <a:latin typeface="Be Vietnam Pro"/>
                <a:ea typeface="Be Vietnam Pro"/>
                <a:cs typeface="Be Vietnam Pro"/>
                <a:sym typeface="Be Vietnam Pro"/>
              </a:rPr>
              <a:t>Giảm 20% sau 2 năm</a:t>
            </a:r>
            <a:endParaRPr b="1" i="0" sz="1500" u="none" cap="none" strike="noStrike">
              <a:solidFill>
                <a:schemeClr val="lt1"/>
              </a:solidFill>
              <a:latin typeface="Be Vietnam Pro"/>
              <a:ea typeface="Be Vietnam Pro"/>
              <a:cs typeface="Be Vietnam Pro"/>
              <a:sym typeface="Be Vietnam Pro"/>
            </a:endParaRPr>
          </a:p>
        </p:txBody>
      </p:sp>
      <p:sp>
        <p:nvSpPr>
          <p:cNvPr id="135" name="Google Shape;135;p10"/>
          <p:cNvSpPr/>
          <p:nvPr/>
        </p:nvSpPr>
        <p:spPr>
          <a:xfrm>
            <a:off x="8001000" y="2032000"/>
            <a:ext cx="3441600" cy="35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Tham gia từ 2 năm và có từ 1,000 PTS.</a:t>
            </a:r>
            <a:endParaRPr i="0" sz="1200" u="none" cap="none" strike="noStrike">
              <a:solidFill>
                <a:schemeClr val="lt1"/>
              </a:solidFill>
              <a:latin typeface="Be Vietnam Pro"/>
              <a:ea typeface="Be Vietnam Pro"/>
              <a:cs typeface="Be Vietnam Pro"/>
              <a:sym typeface="Be Vietnam Pro"/>
            </a:endParaRPr>
          </a:p>
        </p:txBody>
      </p:sp>
      <p:sp>
        <p:nvSpPr>
          <p:cNvPr id="136" name="Google Shape;136;p10"/>
          <p:cNvSpPr/>
          <p:nvPr/>
        </p:nvSpPr>
        <p:spPr>
          <a:xfrm>
            <a:off x="7747000" y="2590800"/>
            <a:ext cx="3949800" cy="1219200"/>
          </a:xfrm>
          <a:prstGeom prst="roundRect">
            <a:avLst>
              <a:gd fmla="val 977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
          <p:cNvSpPr/>
          <p:nvPr/>
        </p:nvSpPr>
        <p:spPr>
          <a:xfrm>
            <a:off x="8001000" y="2768600"/>
            <a:ext cx="3441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1350"/>
              <a:buFont typeface="Space Grotesk"/>
              <a:buNone/>
            </a:pPr>
            <a:r>
              <a:rPr b="1" i="0" lang="en-US" sz="1500" u="none" cap="none" strike="noStrike">
                <a:solidFill>
                  <a:srgbClr val="E7ECF8"/>
                </a:solidFill>
                <a:latin typeface="Be Vietnam Pro"/>
                <a:ea typeface="Be Vietnam Pro"/>
                <a:cs typeface="Be Vietnam Pro"/>
                <a:sym typeface="Be Vietnam Pro"/>
              </a:rPr>
              <a:t>Điểm thưởng</a:t>
            </a:r>
            <a:r>
              <a:rPr b="1" i="0" lang="en-US" sz="1500" u="none" cap="none" strike="noStrike">
                <a:solidFill>
                  <a:srgbClr val="E7ECF8"/>
                </a:solidFill>
                <a:latin typeface="Be Vietnam Pro"/>
                <a:ea typeface="Be Vietnam Pro"/>
                <a:cs typeface="Be Vietnam Pro"/>
                <a:sym typeface="Be Vietnam Pro"/>
              </a:rPr>
              <a:t> 1</a:t>
            </a:r>
            <a:r>
              <a:rPr b="1" lang="en-US" sz="1500">
                <a:solidFill>
                  <a:srgbClr val="E7ECF8"/>
                </a:solidFill>
                <a:latin typeface="Be Vietnam Pro"/>
                <a:ea typeface="Be Vietnam Pro"/>
                <a:cs typeface="Be Vietnam Pro"/>
                <a:sym typeface="Be Vietnam Pro"/>
              </a:rPr>
              <a:t>0</a:t>
            </a:r>
            <a:r>
              <a:rPr b="1" i="0" lang="en-US" sz="1500" u="none" cap="none" strike="noStrike">
                <a:solidFill>
                  <a:srgbClr val="E7ECF8"/>
                </a:solidFill>
                <a:latin typeface="Be Vietnam Pro"/>
                <a:ea typeface="Be Vietnam Pro"/>
                <a:cs typeface="Be Vietnam Pro"/>
                <a:sym typeface="Be Vietnam Pro"/>
              </a:rPr>
              <a:t>/10/10</a:t>
            </a:r>
            <a:endParaRPr b="1" i="0" sz="1500" u="none" cap="none" strike="noStrike">
              <a:solidFill>
                <a:schemeClr val="lt1"/>
              </a:solidFill>
              <a:latin typeface="Be Vietnam Pro"/>
              <a:ea typeface="Be Vietnam Pro"/>
              <a:cs typeface="Be Vietnam Pro"/>
              <a:sym typeface="Be Vietnam Pro"/>
            </a:endParaRPr>
          </a:p>
        </p:txBody>
      </p:sp>
      <p:sp>
        <p:nvSpPr>
          <p:cNvPr id="138" name="Google Shape;138;p10"/>
          <p:cNvSpPr/>
          <p:nvPr/>
        </p:nvSpPr>
        <p:spPr>
          <a:xfrm>
            <a:off x="8001000" y="3073400"/>
            <a:ext cx="3441600" cy="66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080"/>
              <a:buFont typeface="Inter"/>
              <a:buNone/>
            </a:pPr>
            <a:r>
              <a:rPr i="0" lang="en-US" sz="1200" u="none" cap="none" strike="noStrike">
                <a:solidFill>
                  <a:srgbClr val="A7B1C9"/>
                </a:solidFill>
                <a:latin typeface="Be Vietnam Pro"/>
                <a:ea typeface="Be Vietnam Pro"/>
                <a:cs typeface="Be Vietnam Pro"/>
                <a:sym typeface="Be Vietnam Pro"/>
              </a:rPr>
              <a:t>10% người mua, 10% người nhận, 10% quỹ hệ thống, tính trên số tiền đã trả. 1 CHF = 1 điểm, làm tròn lên.</a:t>
            </a:r>
            <a:endParaRPr i="0" sz="1200" u="none" cap="none" strike="noStrike">
              <a:solidFill>
                <a:schemeClr val="lt1"/>
              </a:solidFill>
              <a:latin typeface="Be Vietnam Pro"/>
              <a:ea typeface="Be Vietnam Pro"/>
              <a:cs typeface="Be Vietnam Pro"/>
              <a:sym typeface="Be Vietnam Pro"/>
            </a:endParaRPr>
          </a:p>
        </p:txBody>
      </p:sp>
      <p:sp>
        <p:nvSpPr>
          <p:cNvPr id="139" name="Google Shape;139;p10"/>
          <p:cNvSpPr/>
          <p:nvPr/>
        </p:nvSpPr>
        <p:spPr>
          <a:xfrm>
            <a:off x="7747000" y="3937000"/>
            <a:ext cx="3949800" cy="863700"/>
          </a:xfrm>
          <a:prstGeom prst="roundRect">
            <a:avLst>
              <a:gd fmla="val 977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0"/>
          <p:cNvSpPr/>
          <p:nvPr/>
        </p:nvSpPr>
        <p:spPr>
          <a:xfrm>
            <a:off x="8001000" y="4114800"/>
            <a:ext cx="3441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350"/>
              <a:buFont typeface="Space Grotesk"/>
              <a:buNone/>
            </a:pPr>
            <a:r>
              <a:rPr b="1" i="0" lang="en-US" sz="1500" u="none" cap="none" strike="noStrike">
                <a:solidFill>
                  <a:srgbClr val="45DFA4"/>
                </a:solidFill>
                <a:latin typeface="Be Vietnam Pro"/>
                <a:ea typeface="Be Vietnam Pro"/>
                <a:cs typeface="Be Vietnam Pro"/>
                <a:sym typeface="Be Vietnam Pro"/>
              </a:rPr>
              <a:t>Ví dụ Class 4, Investor</a:t>
            </a:r>
            <a:endParaRPr b="1" i="0" sz="1500" u="none" cap="none" strike="noStrike">
              <a:solidFill>
                <a:schemeClr val="lt1"/>
              </a:solidFill>
              <a:latin typeface="Be Vietnam Pro"/>
              <a:ea typeface="Be Vietnam Pro"/>
              <a:cs typeface="Be Vietnam Pro"/>
              <a:sym typeface="Be Vietnam Pro"/>
            </a:endParaRPr>
          </a:p>
        </p:txBody>
      </p:sp>
      <p:sp>
        <p:nvSpPr>
          <p:cNvPr id="141" name="Google Shape;141;p10"/>
          <p:cNvSpPr/>
          <p:nvPr/>
        </p:nvSpPr>
        <p:spPr>
          <a:xfrm>
            <a:off x="8001000" y="4419600"/>
            <a:ext cx="3441600" cy="30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163"/>
              <a:buFont typeface="Inter"/>
              <a:buNone/>
            </a:pPr>
            <a:r>
              <a:rPr i="0" lang="en-US" sz="1200" u="none" cap="none" strike="noStrike">
                <a:solidFill>
                  <a:srgbClr val="A7B1C9"/>
                </a:solidFill>
                <a:latin typeface="Be Vietnam Pro"/>
                <a:ea typeface="Be Vietnam Pro"/>
                <a:cs typeface="Be Vietnam Pro"/>
                <a:sym typeface="Be Vietnam Pro"/>
              </a:rPr>
              <a:t>9,000 giảm còn 7,200 CHF, nhận +720 điểm.</a:t>
            </a:r>
            <a:endParaRPr i="0" sz="1200" u="none" cap="none" strike="noStrike">
              <a:solidFill>
                <a:schemeClr val="lt1"/>
              </a:solidFill>
              <a:latin typeface="Be Vietnam Pro"/>
              <a:ea typeface="Be Vietnam Pro"/>
              <a:cs typeface="Be Vietnam Pro"/>
              <a:sym typeface="Be Vietnam Pro"/>
            </a:endParaRPr>
          </a:p>
        </p:txBody>
      </p:sp>
      <p:sp>
        <p:nvSpPr>
          <p:cNvPr id="142" name="Google Shape;142;p10"/>
          <p:cNvSpPr/>
          <p:nvPr/>
        </p:nvSpPr>
        <p:spPr>
          <a:xfrm>
            <a:off x="812800" y="5003800"/>
            <a:ext cx="10884000" cy="241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Giá (CHF) và các ngưỡng là đề xuất của B</a:t>
            </a:r>
            <a:r>
              <a:rPr lang="en-US" sz="1200">
                <a:solidFill>
                  <a:srgbClr val="A7B1C9"/>
                </a:solidFill>
                <a:latin typeface="Be Vietnam Pro"/>
                <a:ea typeface="Be Vietnam Pro"/>
                <a:cs typeface="Be Vietnam Pro"/>
                <a:sym typeface="Be Vietnam Pro"/>
              </a:rPr>
              <a:t>A</a:t>
            </a:r>
            <a:endParaRPr i="0" sz="1200" u="none" cap="none" strike="noStrike">
              <a:solidFill>
                <a:schemeClr val="lt1"/>
              </a:solidFill>
              <a:latin typeface="Be Vietnam Pro"/>
              <a:ea typeface="Be Vietnam Pro"/>
              <a:cs typeface="Be Vietnam Pro"/>
              <a:sym typeface="Be Vietnam Pro"/>
            </a:endParaRPr>
          </a:p>
        </p:txBody>
      </p:sp>
      <p:sp>
        <p:nvSpPr>
          <p:cNvPr id="143" name="Google Shape;143;p10"/>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Quy tắc giá · 6</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148" name="Shape 148"/>
        <p:cNvGrpSpPr/>
        <p:nvPr/>
      </p:nvGrpSpPr>
      <p:grpSpPr>
        <a:xfrm>
          <a:off x="0" y="0"/>
          <a:ext cx="0" cy="0"/>
          <a:chOff x="0" y="0"/>
          <a:chExt cx="0" cy="0"/>
        </a:xfrm>
      </p:grpSpPr>
      <p:sp>
        <p:nvSpPr>
          <p:cNvPr id="149" name="Google Shape;149;p11"/>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Hành trình tổng thể: từ đăng ký đến xác minh NFT</a:t>
            </a:r>
            <a:endParaRPr sz="3200">
              <a:latin typeface="Be Vietnam Pro"/>
              <a:ea typeface="Be Vietnam Pro"/>
              <a:cs typeface="Be Vietnam Pro"/>
              <a:sym typeface="Be Vietnam Pro"/>
            </a:endParaRPr>
          </a:p>
        </p:txBody>
      </p:sp>
      <p:sp>
        <p:nvSpPr>
          <p:cNvPr id="150" name="Google Shape;150;p1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BPMN tổng thể · 7</a:t>
            </a:r>
            <a:endParaRPr i="0" sz="1200" u="none" cap="none" strike="noStrike">
              <a:solidFill>
                <a:schemeClr val="lt1"/>
              </a:solidFill>
              <a:latin typeface="Be Vietnam Pro"/>
              <a:ea typeface="Be Vietnam Pro"/>
              <a:cs typeface="Be Vietnam Pro"/>
              <a:sym typeface="Be Vietnam Pro"/>
            </a:endParaRPr>
          </a:p>
        </p:txBody>
      </p:sp>
      <p:sp>
        <p:nvSpPr>
          <p:cNvPr id="151" name="Google Shape;151;p11"/>
          <p:cNvSpPr txBox="1"/>
          <p:nvPr/>
        </p:nvSpPr>
        <p:spPr>
          <a:xfrm>
            <a:off x="812800" y="1348730"/>
            <a:ext cx="10883392" cy="282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500" u="none" cap="none" strike="noStrike">
                <a:solidFill>
                  <a:srgbClr val="A7B1C9"/>
                </a:solidFill>
                <a:latin typeface="Be Vietnam Pro"/>
                <a:ea typeface="Be Vietnam Pro"/>
                <a:cs typeface="Be Vietnam Pro"/>
                <a:sym typeface="Be Vietnam Pro"/>
              </a:rPr>
              <a:t>Sáu bước chính của một thành viên; sơ đồ BPMN đầy đủ nằm trong tài liệu (D0 đến D7.2)</a:t>
            </a:r>
            <a:endParaRPr>
              <a:latin typeface="Be Vietnam Pro"/>
              <a:ea typeface="Be Vietnam Pro"/>
              <a:cs typeface="Be Vietnam Pro"/>
              <a:sym typeface="Be Vietnam Pro"/>
            </a:endParaRPr>
          </a:p>
        </p:txBody>
      </p:sp>
      <p:sp>
        <p:nvSpPr>
          <p:cNvPr id="152" name="Google Shape;152;p11"/>
          <p:cNvSpPr/>
          <p:nvPr/>
        </p:nvSpPr>
        <p:spPr>
          <a:xfrm>
            <a:off x="812800"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3" name="Google Shape;153;p11"/>
          <p:cNvSpPr/>
          <p:nvPr/>
        </p:nvSpPr>
        <p:spPr>
          <a:xfrm>
            <a:off x="942800"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1</a:t>
            </a:r>
            <a:endParaRPr>
              <a:latin typeface="Be Vietnam Pro"/>
              <a:ea typeface="Be Vietnam Pro"/>
              <a:cs typeface="Be Vietnam Pro"/>
              <a:sym typeface="Be Vietnam Pro"/>
            </a:endParaRPr>
          </a:p>
        </p:txBody>
      </p:sp>
      <p:sp>
        <p:nvSpPr>
          <p:cNvPr id="154" name="Google Shape;154;p11"/>
          <p:cNvSpPr txBox="1"/>
          <p:nvPr/>
        </p:nvSpPr>
        <p:spPr>
          <a:xfrm>
            <a:off x="942800"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Đăng ký</a:t>
            </a:r>
            <a:endParaRPr>
              <a:latin typeface="Be Vietnam Pro"/>
              <a:ea typeface="Be Vietnam Pro"/>
              <a:cs typeface="Be Vietnam Pro"/>
              <a:sym typeface="Be Vietnam Pro"/>
            </a:endParaRPr>
          </a:p>
        </p:txBody>
      </p:sp>
      <p:sp>
        <p:nvSpPr>
          <p:cNvPr id="155" name="Google Shape;155;p11"/>
          <p:cNvSpPr txBox="1"/>
          <p:nvPr/>
        </p:nvSpPr>
        <p:spPr>
          <a:xfrm>
            <a:off x="942800"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Waitlist trước khi ra mắt</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Đăng ký Company hoặc Individual</a:t>
            </a:r>
            <a:endParaRPr>
              <a:latin typeface="Be Vietnam Pro"/>
              <a:ea typeface="Be Vietnam Pro"/>
              <a:cs typeface="Be Vietnam Pro"/>
              <a:sym typeface="Be Vietnam Pro"/>
            </a:endParaRPr>
          </a:p>
        </p:txBody>
      </p:sp>
      <p:sp>
        <p:nvSpPr>
          <p:cNvPr id="156" name="Google Shape;156;p11"/>
          <p:cNvSpPr/>
          <p:nvPr/>
        </p:nvSpPr>
        <p:spPr>
          <a:xfrm>
            <a:off x="2445032" y="301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7" name="Google Shape;157;p11"/>
          <p:cNvSpPr/>
          <p:nvPr/>
        </p:nvSpPr>
        <p:spPr>
          <a:xfrm>
            <a:off x="2670032"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58" name="Google Shape;158;p11"/>
          <p:cNvSpPr/>
          <p:nvPr/>
        </p:nvSpPr>
        <p:spPr>
          <a:xfrm>
            <a:off x="2800032"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2</a:t>
            </a:r>
            <a:endParaRPr>
              <a:latin typeface="Be Vietnam Pro"/>
              <a:ea typeface="Be Vietnam Pro"/>
              <a:cs typeface="Be Vietnam Pro"/>
              <a:sym typeface="Be Vietnam Pro"/>
            </a:endParaRPr>
          </a:p>
        </p:txBody>
      </p:sp>
      <p:sp>
        <p:nvSpPr>
          <p:cNvPr id="159" name="Google Shape;159;p11"/>
          <p:cNvSpPr txBox="1"/>
          <p:nvPr/>
        </p:nvSpPr>
        <p:spPr>
          <a:xfrm>
            <a:off x="2800032"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KYC và Class</a:t>
            </a:r>
            <a:endParaRPr>
              <a:latin typeface="Be Vietnam Pro"/>
              <a:ea typeface="Be Vietnam Pro"/>
              <a:cs typeface="Be Vietnam Pro"/>
              <a:sym typeface="Be Vietnam Pro"/>
            </a:endParaRPr>
          </a:p>
        </p:txBody>
      </p:sp>
      <p:sp>
        <p:nvSpPr>
          <p:cNvPr id="160" name="Google Shape;160;p11"/>
          <p:cNvSpPr txBox="1"/>
          <p:nvPr/>
        </p:nvSpPr>
        <p:spPr>
          <a:xfrm>
            <a:off x="2800032"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Nộp giấy tờ, Admin duyệt</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Company được phân Class 0–7</a:t>
            </a:r>
            <a:endParaRPr>
              <a:latin typeface="Be Vietnam Pro"/>
              <a:ea typeface="Be Vietnam Pro"/>
              <a:cs typeface="Be Vietnam Pro"/>
              <a:sym typeface="Be Vietnam Pro"/>
            </a:endParaRPr>
          </a:p>
        </p:txBody>
      </p:sp>
      <p:sp>
        <p:nvSpPr>
          <p:cNvPr id="161" name="Google Shape;161;p11"/>
          <p:cNvSpPr/>
          <p:nvPr/>
        </p:nvSpPr>
        <p:spPr>
          <a:xfrm>
            <a:off x="4302264" y="301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62" name="Google Shape;162;p11"/>
          <p:cNvSpPr/>
          <p:nvPr/>
        </p:nvSpPr>
        <p:spPr>
          <a:xfrm>
            <a:off x="4527264"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63" name="Google Shape;163;p11"/>
          <p:cNvSpPr/>
          <p:nvPr/>
        </p:nvSpPr>
        <p:spPr>
          <a:xfrm>
            <a:off x="4657264"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3</a:t>
            </a:r>
            <a:endParaRPr>
              <a:latin typeface="Be Vietnam Pro"/>
              <a:ea typeface="Be Vietnam Pro"/>
              <a:cs typeface="Be Vietnam Pro"/>
              <a:sym typeface="Be Vietnam Pro"/>
            </a:endParaRPr>
          </a:p>
        </p:txBody>
      </p:sp>
      <p:sp>
        <p:nvSpPr>
          <p:cNvPr id="164" name="Google Shape;164;p11"/>
          <p:cNvSpPr txBox="1"/>
          <p:nvPr/>
        </p:nvSpPr>
        <p:spPr>
          <a:xfrm>
            <a:off x="4657264"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Mua hoặc tặng</a:t>
            </a:r>
            <a:endParaRPr>
              <a:latin typeface="Be Vietnam Pro"/>
              <a:ea typeface="Be Vietnam Pro"/>
              <a:cs typeface="Be Vietnam Pro"/>
              <a:sym typeface="Be Vietnam Pro"/>
            </a:endParaRPr>
          </a:p>
        </p:txBody>
      </p:sp>
      <p:sp>
        <p:nvSpPr>
          <p:cNvPr id="165" name="Google Shape;165;p11"/>
          <p:cNvSpPr txBox="1"/>
          <p:nvPr/>
        </p:nvSpPr>
        <p:spPr>
          <a:xfrm>
            <a:off x="4657264"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Chọn Title và người nhận</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Giá theo Class, giảm 20% sau 2 năm</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Trả bằng thẻ</a:t>
            </a:r>
            <a:endParaRPr>
              <a:latin typeface="Be Vietnam Pro"/>
              <a:ea typeface="Be Vietnam Pro"/>
              <a:cs typeface="Be Vietnam Pro"/>
              <a:sym typeface="Be Vietnam Pro"/>
            </a:endParaRPr>
          </a:p>
        </p:txBody>
      </p:sp>
      <p:sp>
        <p:nvSpPr>
          <p:cNvPr id="166" name="Google Shape;166;p11"/>
          <p:cNvSpPr/>
          <p:nvPr/>
        </p:nvSpPr>
        <p:spPr>
          <a:xfrm>
            <a:off x="6159496" y="301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67" name="Google Shape;167;p11"/>
          <p:cNvSpPr/>
          <p:nvPr/>
        </p:nvSpPr>
        <p:spPr>
          <a:xfrm>
            <a:off x="6384496"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68" name="Google Shape;168;p11"/>
          <p:cNvSpPr/>
          <p:nvPr/>
        </p:nvSpPr>
        <p:spPr>
          <a:xfrm>
            <a:off x="6514496"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4</a:t>
            </a:r>
            <a:endParaRPr>
              <a:latin typeface="Be Vietnam Pro"/>
              <a:ea typeface="Be Vietnam Pro"/>
              <a:cs typeface="Be Vietnam Pro"/>
              <a:sym typeface="Be Vietnam Pro"/>
            </a:endParaRPr>
          </a:p>
        </p:txBody>
      </p:sp>
      <p:sp>
        <p:nvSpPr>
          <p:cNvPr id="169" name="Google Shape;169;p11"/>
          <p:cNvSpPr txBox="1"/>
          <p:nvPr/>
        </p:nvSpPr>
        <p:spPr>
          <a:xfrm>
            <a:off x="6514496"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Mint NFT</a:t>
            </a:r>
            <a:endParaRPr>
              <a:latin typeface="Be Vietnam Pro"/>
              <a:ea typeface="Be Vietnam Pro"/>
              <a:cs typeface="Be Vietnam Pro"/>
              <a:sym typeface="Be Vietnam Pro"/>
            </a:endParaRPr>
          </a:p>
        </p:txBody>
      </p:sp>
      <p:sp>
        <p:nvSpPr>
          <p:cNvPr id="170" name="Google Shape;170;p11"/>
          <p:cNvSpPr txBox="1"/>
          <p:nvPr/>
        </p:nvSpPr>
        <p:spPr>
          <a:xfrm>
            <a:off x="6514496"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Tạo ví giữ hộ nếu chưa có</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Chia điểm 10/10/10</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Cập nhật xếp hạng</a:t>
            </a:r>
            <a:endParaRPr>
              <a:latin typeface="Be Vietnam Pro"/>
              <a:ea typeface="Be Vietnam Pro"/>
              <a:cs typeface="Be Vietnam Pro"/>
              <a:sym typeface="Be Vietnam Pro"/>
            </a:endParaRPr>
          </a:p>
        </p:txBody>
      </p:sp>
      <p:sp>
        <p:nvSpPr>
          <p:cNvPr id="171" name="Google Shape;171;p11"/>
          <p:cNvSpPr/>
          <p:nvPr/>
        </p:nvSpPr>
        <p:spPr>
          <a:xfrm>
            <a:off x="8016728" y="301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72" name="Google Shape;172;p11"/>
          <p:cNvSpPr/>
          <p:nvPr/>
        </p:nvSpPr>
        <p:spPr>
          <a:xfrm>
            <a:off x="8241728"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73" name="Google Shape;173;p11"/>
          <p:cNvSpPr/>
          <p:nvPr/>
        </p:nvSpPr>
        <p:spPr>
          <a:xfrm>
            <a:off x="8371728"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5</a:t>
            </a:r>
            <a:endParaRPr>
              <a:latin typeface="Be Vietnam Pro"/>
              <a:ea typeface="Be Vietnam Pro"/>
              <a:cs typeface="Be Vietnam Pro"/>
              <a:sym typeface="Be Vietnam Pro"/>
            </a:endParaRPr>
          </a:p>
        </p:txBody>
      </p:sp>
      <p:sp>
        <p:nvSpPr>
          <p:cNvPr id="174" name="Google Shape;174;p11"/>
          <p:cNvSpPr txBox="1"/>
          <p:nvPr/>
        </p:nvSpPr>
        <p:spPr>
          <a:xfrm>
            <a:off x="8371728"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Quản lý NFT</a:t>
            </a:r>
            <a:endParaRPr>
              <a:latin typeface="Be Vietnam Pro"/>
              <a:ea typeface="Be Vietnam Pro"/>
              <a:cs typeface="Be Vietnam Pro"/>
              <a:sym typeface="Be Vietnam Pro"/>
            </a:endParaRPr>
          </a:p>
        </p:txBody>
      </p:sp>
      <p:sp>
        <p:nvSpPr>
          <p:cNvPr id="175" name="Google Shape;175;p11"/>
          <p:cNvSpPr txBox="1"/>
          <p:nvPr/>
        </p:nvSpPr>
        <p:spPr>
          <a:xfrm>
            <a:off x="8371728"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Liên kết ví của mình</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Chuyển tối đa một lần</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Admin thu hồi khi cần</a:t>
            </a:r>
            <a:endParaRPr>
              <a:latin typeface="Be Vietnam Pro"/>
              <a:ea typeface="Be Vietnam Pro"/>
              <a:cs typeface="Be Vietnam Pro"/>
              <a:sym typeface="Be Vietnam Pro"/>
            </a:endParaRPr>
          </a:p>
        </p:txBody>
      </p:sp>
      <p:sp>
        <p:nvSpPr>
          <p:cNvPr id="176" name="Google Shape;176;p11"/>
          <p:cNvSpPr/>
          <p:nvPr/>
        </p:nvSpPr>
        <p:spPr>
          <a:xfrm>
            <a:off x="9873960" y="301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77" name="Google Shape;177;p11"/>
          <p:cNvSpPr/>
          <p:nvPr/>
        </p:nvSpPr>
        <p:spPr>
          <a:xfrm>
            <a:off x="10098960" y="1863080"/>
            <a:ext cx="1597232" cy="25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78" name="Google Shape;178;p11"/>
          <p:cNvSpPr/>
          <p:nvPr/>
        </p:nvSpPr>
        <p:spPr>
          <a:xfrm>
            <a:off x="10228960"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6</a:t>
            </a:r>
            <a:endParaRPr>
              <a:latin typeface="Be Vietnam Pro"/>
              <a:ea typeface="Be Vietnam Pro"/>
              <a:cs typeface="Be Vietnam Pro"/>
              <a:sym typeface="Be Vietnam Pro"/>
            </a:endParaRPr>
          </a:p>
        </p:txBody>
      </p:sp>
      <p:sp>
        <p:nvSpPr>
          <p:cNvPr id="179" name="Google Shape;179;p11"/>
          <p:cNvSpPr txBox="1"/>
          <p:nvPr/>
        </p:nvSpPr>
        <p:spPr>
          <a:xfrm>
            <a:off x="10228960"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Xác minh</a:t>
            </a:r>
            <a:endParaRPr>
              <a:latin typeface="Be Vietnam Pro"/>
              <a:ea typeface="Be Vietnam Pro"/>
              <a:cs typeface="Be Vietnam Pro"/>
              <a:sym typeface="Be Vietnam Pro"/>
            </a:endParaRPr>
          </a:p>
        </p:txBody>
      </p:sp>
      <p:sp>
        <p:nvSpPr>
          <p:cNvPr id="180" name="Google Shape;180;p11"/>
          <p:cNvSpPr txBox="1"/>
          <p:nvPr/>
        </p:nvSpPr>
        <p:spPr>
          <a:xfrm>
            <a:off x="10228960" y="2723080"/>
            <a:ext cx="1337232" cy="15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Tra cứu Public Directory</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Kết quả Valid, Revoked hoặc Invalid</a:t>
            </a:r>
            <a:endParaRPr>
              <a:latin typeface="Be Vietnam Pro"/>
              <a:ea typeface="Be Vietnam Pro"/>
              <a:cs typeface="Be Vietnam Pro"/>
              <a:sym typeface="Be Vietnam Pro"/>
            </a:endParaRPr>
          </a:p>
        </p:txBody>
      </p:sp>
      <p:sp>
        <p:nvSpPr>
          <p:cNvPr id="181" name="Google Shape;181;p11"/>
          <p:cNvSpPr/>
          <p:nvPr/>
        </p:nvSpPr>
        <p:spPr>
          <a:xfrm>
            <a:off x="812800" y="4560000"/>
            <a:ext cx="5341696" cy="145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82" name="Google Shape;182;p11"/>
          <p:cNvSpPr txBox="1"/>
          <p:nvPr/>
        </p:nvSpPr>
        <p:spPr>
          <a:xfrm>
            <a:off x="942800" y="4680000"/>
            <a:ext cx="5081696"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Thành viên làm</a:t>
            </a:r>
            <a:endParaRPr>
              <a:latin typeface="Be Vietnam Pro"/>
              <a:ea typeface="Be Vietnam Pro"/>
              <a:cs typeface="Be Vietnam Pro"/>
              <a:sym typeface="Be Vietnam Pro"/>
            </a:endParaRPr>
          </a:p>
        </p:txBody>
      </p:sp>
      <p:sp>
        <p:nvSpPr>
          <p:cNvPr id="183" name="Google Shape;183;p11"/>
          <p:cNvSpPr txBox="1"/>
          <p:nvPr/>
        </p:nvSpPr>
        <p:spPr>
          <a:xfrm>
            <a:off x="942800" y="5040000"/>
            <a:ext cx="5081696" cy="8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200" u="none" cap="none" strike="noStrike">
                <a:solidFill>
                  <a:srgbClr val="E7ECF8"/>
                </a:solidFill>
                <a:latin typeface="Be Vietnam Pro"/>
                <a:ea typeface="Be Vietnam Pro"/>
                <a:cs typeface="Be Vietnam Pro"/>
                <a:sym typeface="Be Vietnam Pro"/>
              </a:rPr>
              <a:t>Đăng ký, nộp KYC, mua hoặc tặng danh hiệu.</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200" u="none" cap="none" strike="noStrike">
                <a:solidFill>
                  <a:srgbClr val="E7ECF8"/>
                </a:solidFill>
                <a:latin typeface="Be Vietnam Pro"/>
                <a:ea typeface="Be Vietnam Pro"/>
                <a:cs typeface="Be Vietnam Pro"/>
                <a:sym typeface="Be Vietnam Pro"/>
              </a:rPr>
              <a:t>Liên kết ví của mình, chuyển NFT một lần.</a:t>
            </a:r>
            <a:endParaRPr>
              <a:latin typeface="Be Vietnam Pro"/>
              <a:ea typeface="Be Vietnam Pro"/>
              <a:cs typeface="Be Vietnam Pro"/>
              <a:sym typeface="Be Vietnam Pro"/>
            </a:endParaRPr>
          </a:p>
        </p:txBody>
      </p:sp>
      <p:sp>
        <p:nvSpPr>
          <p:cNvPr id="184" name="Google Shape;184;p11"/>
          <p:cNvSpPr/>
          <p:nvPr/>
        </p:nvSpPr>
        <p:spPr>
          <a:xfrm>
            <a:off x="6354496" y="4560000"/>
            <a:ext cx="5341696" cy="145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85" name="Google Shape;185;p11"/>
          <p:cNvSpPr txBox="1"/>
          <p:nvPr/>
        </p:nvSpPr>
        <p:spPr>
          <a:xfrm>
            <a:off x="6484496" y="4680000"/>
            <a:ext cx="5081696"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PW và Admin làm</a:t>
            </a:r>
            <a:endParaRPr>
              <a:latin typeface="Be Vietnam Pro"/>
              <a:ea typeface="Be Vietnam Pro"/>
              <a:cs typeface="Be Vietnam Pro"/>
              <a:sym typeface="Be Vietnam Pro"/>
            </a:endParaRPr>
          </a:p>
        </p:txBody>
      </p:sp>
      <p:sp>
        <p:nvSpPr>
          <p:cNvPr id="186" name="Google Shape;186;p11"/>
          <p:cNvSpPr txBox="1"/>
          <p:nvPr/>
        </p:nvSpPr>
        <p:spPr>
          <a:xfrm>
            <a:off x="6484496" y="5040000"/>
            <a:ext cx="5081696" cy="8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200" u="none" cap="none" strike="noStrike">
                <a:solidFill>
                  <a:srgbClr val="E7ECF8"/>
                </a:solidFill>
                <a:latin typeface="Be Vietnam Pro"/>
                <a:ea typeface="Be Vietnam Pro"/>
                <a:cs typeface="Be Vietnam Pro"/>
                <a:sym typeface="Be Vietnam Pro"/>
              </a:rPr>
              <a:t>PW tự động: phân Class, tạo ví, mint, chia điểm, xếp hạng.</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200" u="none" cap="none" strike="noStrike">
                <a:solidFill>
                  <a:srgbClr val="E7ECF8"/>
                </a:solidFill>
                <a:latin typeface="Be Vietnam Pro"/>
                <a:ea typeface="Be Vietnam Pro"/>
                <a:cs typeface="Be Vietnam Pro"/>
                <a:sym typeface="Be Vietnam Pro"/>
              </a:rPr>
              <a:t>Admin: duyệt KYC, chỉnh điểm, trao Award, thu hồi NFT.</a:t>
            </a:r>
            <a:endParaRPr>
              <a:latin typeface="Be Vietnam Pro"/>
              <a:ea typeface="Be Vietnam Pro"/>
              <a:cs typeface="Be Vietnam Pro"/>
              <a:sym typeface="Be Vietnam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191" name="Shape 191"/>
        <p:cNvGrpSpPr/>
        <p:nvPr/>
      </p:nvGrpSpPr>
      <p:grpSpPr>
        <a:xfrm>
          <a:off x="0" y="0"/>
          <a:ext cx="0" cy="0"/>
          <a:chOff x="0" y="0"/>
          <a:chExt cx="0" cy="0"/>
        </a:xfrm>
      </p:grpSpPr>
      <p:sp>
        <p:nvSpPr>
          <p:cNvPr id="192" name="Google Shape;192;p12"/>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D2 · Mua và tặng danh hiệu, mint NFT</a:t>
            </a:r>
            <a:endParaRPr sz="3200">
              <a:latin typeface="Be Vietnam Pro"/>
              <a:ea typeface="Be Vietnam Pro"/>
              <a:cs typeface="Be Vietnam Pro"/>
              <a:sym typeface="Be Vietnam Pro"/>
            </a:endParaRPr>
          </a:p>
        </p:txBody>
      </p:sp>
      <p:sp>
        <p:nvSpPr>
          <p:cNvPr id="193" name="Google Shape;193;p12"/>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BPMN D2 · 8</a:t>
            </a:r>
            <a:endParaRPr i="0" sz="1200" u="none" cap="none" strike="noStrike">
              <a:solidFill>
                <a:schemeClr val="lt1"/>
              </a:solidFill>
              <a:latin typeface="Be Vietnam Pro"/>
              <a:ea typeface="Be Vietnam Pro"/>
              <a:cs typeface="Be Vietnam Pro"/>
              <a:sym typeface="Be Vietnam Pro"/>
            </a:endParaRPr>
          </a:p>
        </p:txBody>
      </p:sp>
      <p:sp>
        <p:nvSpPr>
          <p:cNvPr id="194" name="Google Shape;194;p12"/>
          <p:cNvSpPr txBox="1"/>
          <p:nvPr/>
        </p:nvSpPr>
        <p:spPr>
          <a:xfrm>
            <a:off x="812800" y="1348730"/>
            <a:ext cx="10883392" cy="2825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500" u="none" cap="none" strike="noStrike">
                <a:solidFill>
                  <a:srgbClr val="A7B1C9"/>
                </a:solidFill>
                <a:latin typeface="Be Vietnam Pro"/>
                <a:ea typeface="Be Vietnam Pro"/>
                <a:cs typeface="Be Vietnam Pro"/>
                <a:sym typeface="Be Vietnam Pro"/>
              </a:rPr>
              <a:t>Luồng chính của sơ đồ D2: mua cho mình hoặc tặng người khác</a:t>
            </a:r>
            <a:endParaRPr>
              <a:latin typeface="Be Vietnam Pro"/>
              <a:ea typeface="Be Vietnam Pro"/>
              <a:cs typeface="Be Vietnam Pro"/>
              <a:sym typeface="Be Vietnam Pro"/>
            </a:endParaRPr>
          </a:p>
        </p:txBody>
      </p:sp>
      <p:sp>
        <p:nvSpPr>
          <p:cNvPr id="195" name="Google Shape;195;p12"/>
          <p:cNvSpPr/>
          <p:nvPr/>
        </p:nvSpPr>
        <p:spPr>
          <a:xfrm>
            <a:off x="812800"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196" name="Google Shape;196;p12"/>
          <p:cNvSpPr/>
          <p:nvPr/>
        </p:nvSpPr>
        <p:spPr>
          <a:xfrm>
            <a:off x="942800"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1</a:t>
            </a:r>
            <a:endParaRPr>
              <a:latin typeface="Be Vietnam Pro"/>
              <a:ea typeface="Be Vietnam Pro"/>
              <a:cs typeface="Be Vietnam Pro"/>
              <a:sym typeface="Be Vietnam Pro"/>
            </a:endParaRPr>
          </a:p>
        </p:txBody>
      </p:sp>
      <p:sp>
        <p:nvSpPr>
          <p:cNvPr id="197" name="Google Shape;197;p12"/>
          <p:cNvSpPr txBox="1"/>
          <p:nvPr/>
        </p:nvSpPr>
        <p:spPr>
          <a:xfrm>
            <a:off x="942800"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Chọn</a:t>
            </a:r>
            <a:endParaRPr>
              <a:latin typeface="Be Vietnam Pro"/>
              <a:ea typeface="Be Vietnam Pro"/>
              <a:cs typeface="Be Vietnam Pro"/>
              <a:sym typeface="Be Vietnam Pro"/>
            </a:endParaRPr>
          </a:p>
        </p:txBody>
      </p:sp>
      <p:sp>
        <p:nvSpPr>
          <p:cNvPr id="198" name="Google Shape;198;p12"/>
          <p:cNvSpPr txBox="1"/>
          <p:nvPr/>
        </p:nvSpPr>
        <p:spPr>
          <a:xfrm>
            <a:off x="942800"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Title và người nhận (mình hoặc người đã KYC)</a:t>
            </a:r>
            <a:endParaRPr>
              <a:latin typeface="Be Vietnam Pro"/>
              <a:ea typeface="Be Vietnam Pro"/>
              <a:cs typeface="Be Vietnam Pro"/>
              <a:sym typeface="Be Vietnam Pro"/>
            </a:endParaRPr>
          </a:p>
        </p:txBody>
      </p:sp>
      <p:sp>
        <p:nvSpPr>
          <p:cNvPr id="199" name="Google Shape;199;p12"/>
          <p:cNvSpPr/>
          <p:nvPr/>
        </p:nvSpPr>
        <p:spPr>
          <a:xfrm>
            <a:off x="2445032" y="286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00" name="Google Shape;200;p12"/>
          <p:cNvSpPr/>
          <p:nvPr/>
        </p:nvSpPr>
        <p:spPr>
          <a:xfrm>
            <a:off x="2670032"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01" name="Google Shape;201;p12"/>
          <p:cNvSpPr/>
          <p:nvPr/>
        </p:nvSpPr>
        <p:spPr>
          <a:xfrm>
            <a:off x="2800032"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2</a:t>
            </a:r>
            <a:endParaRPr>
              <a:latin typeface="Be Vietnam Pro"/>
              <a:ea typeface="Be Vietnam Pro"/>
              <a:cs typeface="Be Vietnam Pro"/>
              <a:sym typeface="Be Vietnam Pro"/>
            </a:endParaRPr>
          </a:p>
        </p:txBody>
      </p:sp>
      <p:sp>
        <p:nvSpPr>
          <p:cNvPr id="202" name="Google Shape;202;p12"/>
          <p:cNvSpPr txBox="1"/>
          <p:nvPr/>
        </p:nvSpPr>
        <p:spPr>
          <a:xfrm>
            <a:off x="2800032"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Kiểm tra KYC</a:t>
            </a:r>
            <a:endParaRPr>
              <a:latin typeface="Be Vietnam Pro"/>
              <a:ea typeface="Be Vietnam Pro"/>
              <a:cs typeface="Be Vietnam Pro"/>
              <a:sym typeface="Be Vietnam Pro"/>
            </a:endParaRPr>
          </a:p>
        </p:txBody>
      </p:sp>
      <p:sp>
        <p:nvSpPr>
          <p:cNvPr id="203" name="Google Shape;203;p12"/>
          <p:cNvSpPr txBox="1"/>
          <p:nvPr/>
        </p:nvSpPr>
        <p:spPr>
          <a:xfrm>
            <a:off x="2800032"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PW kiểm tra người nhận trước khi thanh toán</a:t>
            </a:r>
            <a:endParaRPr>
              <a:latin typeface="Be Vietnam Pro"/>
              <a:ea typeface="Be Vietnam Pro"/>
              <a:cs typeface="Be Vietnam Pro"/>
              <a:sym typeface="Be Vietnam Pro"/>
            </a:endParaRPr>
          </a:p>
        </p:txBody>
      </p:sp>
      <p:sp>
        <p:nvSpPr>
          <p:cNvPr id="204" name="Google Shape;204;p12"/>
          <p:cNvSpPr/>
          <p:nvPr/>
        </p:nvSpPr>
        <p:spPr>
          <a:xfrm>
            <a:off x="4302264" y="286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05" name="Google Shape;205;p12"/>
          <p:cNvSpPr/>
          <p:nvPr/>
        </p:nvSpPr>
        <p:spPr>
          <a:xfrm>
            <a:off x="4527264"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06" name="Google Shape;206;p12"/>
          <p:cNvSpPr/>
          <p:nvPr/>
        </p:nvSpPr>
        <p:spPr>
          <a:xfrm>
            <a:off x="4657264"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3</a:t>
            </a:r>
            <a:endParaRPr>
              <a:latin typeface="Be Vietnam Pro"/>
              <a:ea typeface="Be Vietnam Pro"/>
              <a:cs typeface="Be Vietnam Pro"/>
              <a:sym typeface="Be Vietnam Pro"/>
            </a:endParaRPr>
          </a:p>
        </p:txBody>
      </p:sp>
      <p:sp>
        <p:nvSpPr>
          <p:cNvPr id="207" name="Google Shape;207;p12"/>
          <p:cNvSpPr txBox="1"/>
          <p:nvPr/>
        </p:nvSpPr>
        <p:spPr>
          <a:xfrm>
            <a:off x="4657264"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Thanh toán</a:t>
            </a:r>
            <a:endParaRPr>
              <a:latin typeface="Be Vietnam Pro"/>
              <a:ea typeface="Be Vietnam Pro"/>
              <a:cs typeface="Be Vietnam Pro"/>
              <a:sym typeface="Be Vietnam Pro"/>
            </a:endParaRPr>
          </a:p>
        </p:txBody>
      </p:sp>
      <p:sp>
        <p:nvSpPr>
          <p:cNvPr id="208" name="Google Shape;208;p12"/>
          <p:cNvSpPr txBox="1"/>
          <p:nvPr/>
        </p:nvSpPr>
        <p:spPr>
          <a:xfrm>
            <a:off x="4657264"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Giá theo Class, giảm giá, điểm</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Trả bằng thẻ</a:t>
            </a:r>
            <a:endParaRPr>
              <a:latin typeface="Be Vietnam Pro"/>
              <a:ea typeface="Be Vietnam Pro"/>
              <a:cs typeface="Be Vietnam Pro"/>
              <a:sym typeface="Be Vietnam Pro"/>
            </a:endParaRPr>
          </a:p>
        </p:txBody>
      </p:sp>
      <p:sp>
        <p:nvSpPr>
          <p:cNvPr id="209" name="Google Shape;209;p12"/>
          <p:cNvSpPr/>
          <p:nvPr/>
        </p:nvSpPr>
        <p:spPr>
          <a:xfrm>
            <a:off x="6159496" y="286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10" name="Google Shape;210;p12"/>
          <p:cNvSpPr/>
          <p:nvPr/>
        </p:nvSpPr>
        <p:spPr>
          <a:xfrm>
            <a:off x="6384496"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11" name="Google Shape;211;p12"/>
          <p:cNvSpPr/>
          <p:nvPr/>
        </p:nvSpPr>
        <p:spPr>
          <a:xfrm>
            <a:off x="6514496"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4</a:t>
            </a:r>
            <a:endParaRPr>
              <a:latin typeface="Be Vietnam Pro"/>
              <a:ea typeface="Be Vietnam Pro"/>
              <a:cs typeface="Be Vietnam Pro"/>
              <a:sym typeface="Be Vietnam Pro"/>
            </a:endParaRPr>
          </a:p>
        </p:txBody>
      </p:sp>
      <p:sp>
        <p:nvSpPr>
          <p:cNvPr id="212" name="Google Shape;212;p12"/>
          <p:cNvSpPr txBox="1"/>
          <p:nvPr/>
        </p:nvSpPr>
        <p:spPr>
          <a:xfrm>
            <a:off x="6514496"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Tạo ví</a:t>
            </a:r>
            <a:endParaRPr>
              <a:latin typeface="Be Vietnam Pro"/>
              <a:ea typeface="Be Vietnam Pro"/>
              <a:cs typeface="Be Vietnam Pro"/>
              <a:sym typeface="Be Vietnam Pro"/>
            </a:endParaRPr>
          </a:p>
        </p:txBody>
      </p:sp>
      <p:sp>
        <p:nvSpPr>
          <p:cNvPr id="213" name="Google Shape;213;p12"/>
          <p:cNvSpPr txBox="1"/>
          <p:nvPr/>
        </p:nvSpPr>
        <p:spPr>
          <a:xfrm>
            <a:off x="6514496"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Ví giữ hộ qua Circle, nếu người nhận chưa có</a:t>
            </a:r>
            <a:endParaRPr>
              <a:latin typeface="Be Vietnam Pro"/>
              <a:ea typeface="Be Vietnam Pro"/>
              <a:cs typeface="Be Vietnam Pro"/>
              <a:sym typeface="Be Vietnam Pro"/>
            </a:endParaRPr>
          </a:p>
        </p:txBody>
      </p:sp>
      <p:sp>
        <p:nvSpPr>
          <p:cNvPr id="214" name="Google Shape;214;p12"/>
          <p:cNvSpPr/>
          <p:nvPr/>
        </p:nvSpPr>
        <p:spPr>
          <a:xfrm>
            <a:off x="8016728" y="286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15" name="Google Shape;215;p12"/>
          <p:cNvSpPr/>
          <p:nvPr/>
        </p:nvSpPr>
        <p:spPr>
          <a:xfrm>
            <a:off x="8241728"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16" name="Google Shape;216;p12"/>
          <p:cNvSpPr/>
          <p:nvPr/>
        </p:nvSpPr>
        <p:spPr>
          <a:xfrm>
            <a:off x="8371728"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5</a:t>
            </a:r>
            <a:endParaRPr>
              <a:latin typeface="Be Vietnam Pro"/>
              <a:ea typeface="Be Vietnam Pro"/>
              <a:cs typeface="Be Vietnam Pro"/>
              <a:sym typeface="Be Vietnam Pro"/>
            </a:endParaRPr>
          </a:p>
        </p:txBody>
      </p:sp>
      <p:sp>
        <p:nvSpPr>
          <p:cNvPr id="217" name="Google Shape;217;p12"/>
          <p:cNvSpPr txBox="1"/>
          <p:nvPr/>
        </p:nvSpPr>
        <p:spPr>
          <a:xfrm>
            <a:off x="8371728"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Mint NFT</a:t>
            </a:r>
            <a:endParaRPr>
              <a:latin typeface="Be Vietnam Pro"/>
              <a:ea typeface="Be Vietnam Pro"/>
              <a:cs typeface="Be Vietnam Pro"/>
              <a:sym typeface="Be Vietnam Pro"/>
            </a:endParaRPr>
          </a:p>
        </p:txBody>
      </p:sp>
      <p:sp>
        <p:nvSpPr>
          <p:cNvPr id="218" name="Google Shape;218;p12"/>
          <p:cNvSpPr txBox="1"/>
          <p:nvPr/>
        </p:nvSpPr>
        <p:spPr>
          <a:xfrm>
            <a:off x="8371728"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Mint Distinction NFT qua Alchemy</a:t>
            </a:r>
            <a:endParaRPr>
              <a:latin typeface="Be Vietnam Pro"/>
              <a:ea typeface="Be Vietnam Pro"/>
              <a:cs typeface="Be Vietnam Pro"/>
              <a:sym typeface="Be Vietnam Pro"/>
            </a:endParaRPr>
          </a:p>
        </p:txBody>
      </p:sp>
      <p:sp>
        <p:nvSpPr>
          <p:cNvPr id="219" name="Google Shape;219;p12"/>
          <p:cNvSpPr/>
          <p:nvPr/>
        </p:nvSpPr>
        <p:spPr>
          <a:xfrm>
            <a:off x="9873960" y="2868080"/>
            <a:ext cx="190000" cy="1900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20" name="Google Shape;220;p12"/>
          <p:cNvSpPr/>
          <p:nvPr/>
        </p:nvSpPr>
        <p:spPr>
          <a:xfrm>
            <a:off x="10098960" y="1863080"/>
            <a:ext cx="1597232" cy="220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21" name="Google Shape;221;p12"/>
          <p:cNvSpPr/>
          <p:nvPr/>
        </p:nvSpPr>
        <p:spPr>
          <a:xfrm>
            <a:off x="10228960" y="1983080"/>
            <a:ext cx="300000" cy="3000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200" u="none" cap="none" strike="noStrike">
                <a:solidFill>
                  <a:srgbClr val="0D1220"/>
                </a:solidFill>
                <a:latin typeface="Be Vietnam Pro"/>
                <a:ea typeface="Be Vietnam Pro"/>
                <a:cs typeface="Be Vietnam Pro"/>
                <a:sym typeface="Be Vietnam Pro"/>
              </a:rPr>
              <a:t>6</a:t>
            </a:r>
            <a:endParaRPr>
              <a:latin typeface="Be Vietnam Pro"/>
              <a:ea typeface="Be Vietnam Pro"/>
              <a:cs typeface="Be Vietnam Pro"/>
              <a:sym typeface="Be Vietnam Pro"/>
            </a:endParaRPr>
          </a:p>
        </p:txBody>
      </p:sp>
      <p:sp>
        <p:nvSpPr>
          <p:cNvPr id="222" name="Google Shape;222;p12"/>
          <p:cNvSpPr txBox="1"/>
          <p:nvPr/>
        </p:nvSpPr>
        <p:spPr>
          <a:xfrm>
            <a:off x="10228960" y="2363080"/>
            <a:ext cx="1337232"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6C9CFF"/>
                </a:solidFill>
                <a:latin typeface="Be Vietnam Pro"/>
                <a:ea typeface="Be Vietnam Pro"/>
                <a:cs typeface="Be Vietnam Pro"/>
                <a:sym typeface="Be Vietnam Pro"/>
              </a:rPr>
              <a:t>Hoàn tất</a:t>
            </a:r>
            <a:endParaRPr>
              <a:latin typeface="Be Vietnam Pro"/>
              <a:ea typeface="Be Vietnam Pro"/>
              <a:cs typeface="Be Vietnam Pro"/>
              <a:sym typeface="Be Vietnam Pro"/>
            </a:endParaRPr>
          </a:p>
        </p:txBody>
      </p:sp>
      <p:sp>
        <p:nvSpPr>
          <p:cNvPr id="223" name="Google Shape;223;p12"/>
          <p:cNvSpPr txBox="1"/>
          <p:nvPr/>
        </p:nvSpPr>
        <p:spPr>
          <a:xfrm>
            <a:off x="10228960" y="2723080"/>
            <a:ext cx="1337232" cy="122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100" u="none" cap="none" strike="noStrike">
                <a:solidFill>
                  <a:srgbClr val="E7ECF8"/>
                </a:solidFill>
                <a:latin typeface="Be Vietnam Pro"/>
                <a:ea typeface="Be Vietnam Pro"/>
                <a:cs typeface="Be Vietnam Pro"/>
                <a:sym typeface="Be Vietnam Pro"/>
              </a:rPr>
              <a:t>Chia điểm 10/10/10, xếp hạng, ghi nhật ký</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100" u="none" cap="none" strike="noStrike">
                <a:solidFill>
                  <a:srgbClr val="E7ECF8"/>
                </a:solidFill>
                <a:latin typeface="Be Vietnam Pro"/>
                <a:ea typeface="Be Vietnam Pro"/>
                <a:cs typeface="Be Vietnam Pro"/>
                <a:sym typeface="Be Vietnam Pro"/>
              </a:rPr>
              <a:t>Báo người nhận nếu là quà</a:t>
            </a:r>
            <a:endParaRPr>
              <a:latin typeface="Be Vietnam Pro"/>
              <a:ea typeface="Be Vietnam Pro"/>
              <a:cs typeface="Be Vietnam Pro"/>
              <a:sym typeface="Be Vietnam Pro"/>
            </a:endParaRPr>
          </a:p>
        </p:txBody>
      </p:sp>
      <p:sp>
        <p:nvSpPr>
          <p:cNvPr id="224" name="Google Shape;224;p12"/>
          <p:cNvSpPr/>
          <p:nvPr/>
        </p:nvSpPr>
        <p:spPr>
          <a:xfrm>
            <a:off x="812800" y="4300000"/>
            <a:ext cx="3494464" cy="165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25" name="Google Shape;225;p12"/>
          <p:cNvSpPr txBox="1"/>
          <p:nvPr/>
        </p:nvSpPr>
        <p:spPr>
          <a:xfrm>
            <a:off x="942800" y="4420000"/>
            <a:ext cx="3234464"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F5B94C"/>
                </a:solidFill>
                <a:latin typeface="Be Vietnam Pro"/>
                <a:ea typeface="Be Vietnam Pro"/>
                <a:cs typeface="Be Vietnam Pro"/>
                <a:sym typeface="Be Vietnam Pro"/>
              </a:rPr>
              <a:t>KYC chưa đạt</a:t>
            </a:r>
            <a:endParaRPr>
              <a:latin typeface="Be Vietnam Pro"/>
              <a:ea typeface="Be Vietnam Pro"/>
              <a:cs typeface="Be Vietnam Pro"/>
              <a:sym typeface="Be Vietnam Pro"/>
            </a:endParaRPr>
          </a:p>
        </p:txBody>
      </p:sp>
      <p:sp>
        <p:nvSpPr>
          <p:cNvPr id="226" name="Google Shape;226;p12"/>
          <p:cNvSpPr txBox="1"/>
          <p:nvPr/>
        </p:nvSpPr>
        <p:spPr>
          <a:xfrm>
            <a:off x="942800" y="4780000"/>
            <a:ext cx="3234464" cy="10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200" u="none" cap="none" strike="noStrike">
                <a:solidFill>
                  <a:srgbClr val="E7ECF8"/>
                </a:solidFill>
                <a:latin typeface="Be Vietnam Pro"/>
                <a:ea typeface="Be Vietnam Pro"/>
                <a:cs typeface="Be Vietnam Pro"/>
                <a:sym typeface="Be Vietnam Pro"/>
              </a:rPr>
              <a:t>Người nhận chưa được duyệt KYC: dừng đơn, báo lỗi, chưa thanh toán.</a:t>
            </a:r>
            <a:endParaRPr>
              <a:latin typeface="Be Vietnam Pro"/>
              <a:ea typeface="Be Vietnam Pro"/>
              <a:cs typeface="Be Vietnam Pro"/>
              <a:sym typeface="Be Vietnam Pro"/>
            </a:endParaRPr>
          </a:p>
        </p:txBody>
      </p:sp>
      <p:sp>
        <p:nvSpPr>
          <p:cNvPr id="227" name="Google Shape;227;p12"/>
          <p:cNvSpPr/>
          <p:nvPr/>
        </p:nvSpPr>
        <p:spPr>
          <a:xfrm>
            <a:off x="4507264" y="4300000"/>
            <a:ext cx="3494464" cy="165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28" name="Google Shape;228;p12"/>
          <p:cNvSpPr txBox="1"/>
          <p:nvPr/>
        </p:nvSpPr>
        <p:spPr>
          <a:xfrm>
            <a:off x="4637264" y="4420000"/>
            <a:ext cx="3234464"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F5B94C"/>
                </a:solidFill>
                <a:latin typeface="Be Vietnam Pro"/>
                <a:ea typeface="Be Vietnam Pro"/>
                <a:cs typeface="Be Vietnam Pro"/>
                <a:sym typeface="Be Vietnam Pro"/>
              </a:rPr>
              <a:t>Thanh toán lỗi</a:t>
            </a:r>
            <a:endParaRPr>
              <a:latin typeface="Be Vietnam Pro"/>
              <a:ea typeface="Be Vietnam Pro"/>
              <a:cs typeface="Be Vietnam Pro"/>
              <a:sym typeface="Be Vietnam Pro"/>
            </a:endParaRPr>
          </a:p>
        </p:txBody>
      </p:sp>
      <p:sp>
        <p:nvSpPr>
          <p:cNvPr id="229" name="Google Shape;229;p12"/>
          <p:cNvSpPr txBox="1"/>
          <p:nvPr/>
        </p:nvSpPr>
        <p:spPr>
          <a:xfrm>
            <a:off x="4637264" y="4780000"/>
            <a:ext cx="3234464" cy="10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200" u="none" cap="none" strike="noStrike">
                <a:solidFill>
                  <a:srgbClr val="E7ECF8"/>
                </a:solidFill>
                <a:latin typeface="Be Vietnam Pro"/>
                <a:ea typeface="Be Vietnam Pro"/>
                <a:cs typeface="Be Vietnam Pro"/>
                <a:sym typeface="Be Vietnam Pro"/>
              </a:rPr>
              <a:t>Không trừ tiền, không mint, không cộng điểm.</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200" u="none" cap="none" strike="noStrike">
                <a:solidFill>
                  <a:srgbClr val="E7ECF8"/>
                </a:solidFill>
                <a:latin typeface="Be Vietnam Pro"/>
                <a:ea typeface="Be Vietnam Pro"/>
                <a:cs typeface="Be Vietnam Pro"/>
                <a:sym typeface="Be Vietnam Pro"/>
              </a:rPr>
              <a:t>Người mua thử lại.</a:t>
            </a:r>
            <a:endParaRPr>
              <a:latin typeface="Be Vietnam Pro"/>
              <a:ea typeface="Be Vietnam Pro"/>
              <a:cs typeface="Be Vietnam Pro"/>
              <a:sym typeface="Be Vietnam Pro"/>
            </a:endParaRPr>
          </a:p>
        </p:txBody>
      </p:sp>
      <p:sp>
        <p:nvSpPr>
          <p:cNvPr id="230" name="Google Shape;230;p12"/>
          <p:cNvSpPr/>
          <p:nvPr/>
        </p:nvSpPr>
        <p:spPr>
          <a:xfrm>
            <a:off x="8201728" y="4300000"/>
            <a:ext cx="3494464" cy="16500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id="231" name="Google Shape;231;p12"/>
          <p:cNvSpPr txBox="1"/>
          <p:nvPr/>
        </p:nvSpPr>
        <p:spPr>
          <a:xfrm>
            <a:off x="8331728" y="4420000"/>
            <a:ext cx="3234464" cy="33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400" u="none" cap="none" strike="noStrike">
                <a:solidFill>
                  <a:srgbClr val="F5B94C"/>
                </a:solidFill>
                <a:latin typeface="Be Vietnam Pro"/>
                <a:ea typeface="Be Vietnam Pro"/>
                <a:cs typeface="Be Vietnam Pro"/>
                <a:sym typeface="Be Vietnam Pro"/>
              </a:rPr>
              <a:t>Mint lỗi sau khi trả tiền</a:t>
            </a:r>
            <a:endParaRPr>
              <a:latin typeface="Be Vietnam Pro"/>
              <a:ea typeface="Be Vietnam Pro"/>
              <a:cs typeface="Be Vietnam Pro"/>
              <a:sym typeface="Be Vietnam Pro"/>
            </a:endParaRPr>
          </a:p>
        </p:txBody>
      </p:sp>
      <p:sp>
        <p:nvSpPr>
          <p:cNvPr id="232" name="Google Shape;232;p12"/>
          <p:cNvSpPr txBox="1"/>
          <p:nvPr/>
        </p:nvSpPr>
        <p:spPr>
          <a:xfrm>
            <a:off x="8331728" y="4780000"/>
            <a:ext cx="3234600" cy="105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0" lang="en-US" sz="1200" u="none" cap="none" strike="noStrike">
                <a:solidFill>
                  <a:srgbClr val="E7ECF8"/>
                </a:solidFill>
                <a:latin typeface="Be Vietnam Pro"/>
                <a:ea typeface="Be Vietnam Pro"/>
                <a:cs typeface="Be Vietnam Pro"/>
                <a:sym typeface="Be Vietnam Pro"/>
              </a:rPr>
              <a:t>Huỷ đơn, không cộng điểm, gửi yêu cầu hoàn tiền đầy đủ ngay.</a:t>
            </a:r>
            <a:endParaRPr>
              <a:latin typeface="Be Vietnam Pro"/>
              <a:ea typeface="Be Vietnam Pro"/>
              <a:cs typeface="Be Vietnam Pro"/>
              <a:sym typeface="Be Vietnam Pro"/>
            </a:endParaRPr>
          </a:p>
          <a:p>
            <a:pPr indent="0" lvl="0" marL="0" marR="0" rtl="0" algn="l">
              <a:spcBef>
                <a:spcPts val="300"/>
              </a:spcBef>
              <a:spcAft>
                <a:spcPts val="0"/>
              </a:spcAft>
              <a:buNone/>
            </a:pPr>
            <a:r>
              <a:rPr i="0" lang="en-US" sz="1200" u="none" cap="none" strike="noStrike">
                <a:solidFill>
                  <a:srgbClr val="E7ECF8"/>
                </a:solidFill>
                <a:latin typeface="Be Vietnam Pro"/>
                <a:ea typeface="Be Vietnam Pro"/>
                <a:cs typeface="Be Vietnam Pro"/>
                <a:sym typeface="Be Vietnam Pro"/>
              </a:rPr>
              <a:t>Thẻ hiện tiền sau 5–10 ngày làm việc. Hoàn tiền lỗi: Admin xử lý thủ công.</a:t>
            </a:r>
            <a:endParaRPr>
              <a:latin typeface="Be Vietnam Pro"/>
              <a:ea typeface="Be Vietnam Pro"/>
              <a:cs typeface="Be Vietnam Pro"/>
              <a:sym typeface="Be Vietnam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237" name="Shape 237"/>
        <p:cNvGrpSpPr/>
        <p:nvPr/>
      </p:nvGrpSpPr>
      <p:grpSpPr>
        <a:xfrm>
          <a:off x="0" y="0"/>
          <a:ext cx="0" cy="0"/>
          <a:chOff x="0" y="0"/>
          <a:chExt cx="0" cy="0"/>
        </a:xfrm>
      </p:grpSpPr>
      <p:sp>
        <p:nvSpPr>
          <p:cNvPr id="238" name="Google Shape;238;p13"/>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Mockup: Dashboard và Public Directory</a:t>
            </a:r>
            <a:endParaRPr sz="3200">
              <a:latin typeface="Be Vietnam Pro"/>
              <a:ea typeface="Be Vietnam Pro"/>
              <a:cs typeface="Be Vietnam Pro"/>
              <a:sym typeface="Be Vietnam Pro"/>
            </a:endParaRPr>
          </a:p>
        </p:txBody>
      </p:sp>
      <p:sp>
        <p:nvSpPr>
          <p:cNvPr id="239" name="Google Shape;239;p13"/>
          <p:cNvSpPr/>
          <p:nvPr/>
        </p:nvSpPr>
        <p:spPr>
          <a:xfrm>
            <a:off x="812800" y="1513830"/>
            <a:ext cx="5310886"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5DFA4"/>
              </a:buClr>
              <a:buSzPts val="1400"/>
              <a:buFont typeface="Inter"/>
              <a:buNone/>
            </a:pPr>
            <a:r>
              <a:rPr b="1" i="0" lang="en-US" sz="1400" u="none" cap="none" strike="noStrike">
                <a:solidFill>
                  <a:srgbClr val="45DFA4"/>
                </a:solidFill>
                <a:latin typeface="Be Vietnam Pro"/>
                <a:ea typeface="Be Vietnam Pro"/>
                <a:cs typeface="Be Vietnam Pro"/>
                <a:sym typeface="Be Vietnam Pro"/>
              </a:rPr>
              <a:t>Member Dashboard</a:t>
            </a:r>
            <a:endParaRPr i="0" sz="1400" u="none" cap="none" strike="noStrike">
              <a:solidFill>
                <a:schemeClr val="lt1"/>
              </a:solidFill>
              <a:latin typeface="Be Vietnam Pro"/>
              <a:ea typeface="Be Vietnam Pro"/>
              <a:cs typeface="Be Vietnam Pro"/>
              <a:sym typeface="Be Vietnam Pro"/>
            </a:endParaRPr>
          </a:p>
        </p:txBody>
      </p:sp>
      <p:pic>
        <p:nvPicPr>
          <p:cNvPr descr="Member Dashboard" id="240" name="Google Shape;240;p13"/>
          <p:cNvPicPr preferRelativeResize="0"/>
          <p:nvPr/>
        </p:nvPicPr>
        <p:blipFill rotWithShape="1">
          <a:blip r:embed="rId3">
            <a:alphaModFix/>
          </a:blip>
          <a:srcRect b="55383" l="0" r="0" t="0"/>
          <a:stretch/>
        </p:blipFill>
        <p:spPr>
          <a:xfrm>
            <a:off x="819150" y="1845270"/>
            <a:ext cx="5143500" cy="3289300"/>
          </a:xfrm>
          <a:prstGeom prst="roundRect">
            <a:avLst>
              <a:gd fmla="val 2510" name="adj"/>
            </a:avLst>
          </a:prstGeom>
          <a:noFill/>
          <a:ln>
            <a:noFill/>
          </a:ln>
        </p:spPr>
      </p:pic>
      <p:sp>
        <p:nvSpPr>
          <p:cNvPr id="241" name="Google Shape;241;p13"/>
          <p:cNvSpPr/>
          <p:nvPr/>
        </p:nvSpPr>
        <p:spPr>
          <a:xfrm>
            <a:off x="815975" y="1842095"/>
            <a:ext cx="5149850" cy="3295650"/>
          </a:xfrm>
          <a:prstGeom prst="roundRect">
            <a:avLst>
              <a:gd fmla="val 2601" name="adj"/>
            </a:avLst>
          </a:prstGeom>
          <a:no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3"/>
          <p:cNvSpPr/>
          <p:nvPr/>
        </p:nvSpPr>
        <p:spPr>
          <a:xfrm>
            <a:off x="6223000" y="1513830"/>
            <a:ext cx="5310886"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5DFA4"/>
              </a:buClr>
              <a:buSzPts val="1400"/>
              <a:buFont typeface="Inter"/>
              <a:buNone/>
            </a:pPr>
            <a:r>
              <a:rPr b="1" i="0" lang="en-US" sz="1400" u="none" cap="none" strike="noStrike">
                <a:solidFill>
                  <a:srgbClr val="45DFA4"/>
                </a:solidFill>
                <a:latin typeface="Be Vietnam Pro"/>
                <a:ea typeface="Be Vietnam Pro"/>
                <a:cs typeface="Be Vietnam Pro"/>
                <a:sym typeface="Be Vietnam Pro"/>
              </a:rPr>
              <a:t>Public Directory</a:t>
            </a:r>
            <a:endParaRPr i="0" sz="1400" u="none" cap="none" strike="noStrike">
              <a:solidFill>
                <a:schemeClr val="lt1"/>
              </a:solidFill>
              <a:latin typeface="Be Vietnam Pro"/>
              <a:ea typeface="Be Vietnam Pro"/>
              <a:cs typeface="Be Vietnam Pro"/>
              <a:sym typeface="Be Vietnam Pro"/>
            </a:endParaRPr>
          </a:p>
        </p:txBody>
      </p:sp>
      <p:pic>
        <p:nvPicPr>
          <p:cNvPr descr="Public Directory" id="243" name="Google Shape;243;p13"/>
          <p:cNvPicPr preferRelativeResize="0"/>
          <p:nvPr/>
        </p:nvPicPr>
        <p:blipFill rotWithShape="1">
          <a:blip r:embed="rId4">
            <a:alphaModFix/>
          </a:blip>
          <a:srcRect b="55091" l="0" r="0" t="0"/>
          <a:stretch/>
        </p:blipFill>
        <p:spPr>
          <a:xfrm>
            <a:off x="6229350" y="1845270"/>
            <a:ext cx="5143500" cy="3289300"/>
          </a:xfrm>
          <a:prstGeom prst="roundRect">
            <a:avLst>
              <a:gd fmla="val 2510" name="adj"/>
            </a:avLst>
          </a:prstGeom>
          <a:noFill/>
          <a:ln>
            <a:noFill/>
          </a:ln>
        </p:spPr>
      </p:pic>
      <p:sp>
        <p:nvSpPr>
          <p:cNvPr id="244" name="Google Shape;244;p13"/>
          <p:cNvSpPr/>
          <p:nvPr/>
        </p:nvSpPr>
        <p:spPr>
          <a:xfrm>
            <a:off x="6226175" y="1842095"/>
            <a:ext cx="5149850" cy="3295650"/>
          </a:xfrm>
          <a:prstGeom prst="roundRect">
            <a:avLst>
              <a:gd fmla="val 2601" name="adj"/>
            </a:avLst>
          </a:prstGeom>
          <a:no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a:off x="812800" y="5394920"/>
            <a:ext cx="10883392"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i="0" lang="en-US" sz="1300" u="none" cap="none" strike="noStrike">
                <a:solidFill>
                  <a:srgbClr val="A7B1C9"/>
                </a:solidFill>
                <a:latin typeface="Be Vietnam Pro"/>
                <a:ea typeface="Be Vietnam Pro"/>
                <a:cs typeface="Be Vietnam Pro"/>
                <a:sym typeface="Be Vietnam Pro"/>
              </a:rPr>
              <a:t>Prototype chạy được (HTML tĩnh): giá, giảm giá, điểm, KYC thành viên – admin; blockchain và thanh toán mô phỏng.</a:t>
            </a:r>
            <a:endParaRPr i="0" sz="1300" u="none" cap="none" strike="noStrike">
              <a:solidFill>
                <a:schemeClr val="lt1"/>
              </a:solidFill>
              <a:latin typeface="Be Vietnam Pro"/>
              <a:ea typeface="Be Vietnam Pro"/>
              <a:cs typeface="Be Vietnam Pro"/>
              <a:sym typeface="Be Vietnam Pro"/>
            </a:endParaRPr>
          </a:p>
        </p:txBody>
      </p:sp>
      <p:sp>
        <p:nvSpPr>
          <p:cNvPr id="246" name="Google Shape;246;p13"/>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Mockup · 9</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251" name="Shape 251"/>
        <p:cNvGrpSpPr/>
        <p:nvPr/>
      </p:nvGrpSpPr>
      <p:grpSpPr>
        <a:xfrm>
          <a:off x="0" y="0"/>
          <a:ext cx="0" cy="0"/>
          <a:chOff x="0" y="0"/>
          <a:chExt cx="0" cy="0"/>
        </a:xfrm>
      </p:grpSpPr>
      <p:sp>
        <p:nvSpPr>
          <p:cNvPr id="252" name="Google Shape;252;p14"/>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Quản trị và kiểm soát</a:t>
            </a:r>
            <a:endParaRPr sz="3200">
              <a:latin typeface="Be Vietnam Pro"/>
              <a:ea typeface="Be Vietnam Pro"/>
              <a:cs typeface="Be Vietnam Pro"/>
              <a:sym typeface="Be Vietnam Pro"/>
            </a:endParaRPr>
          </a:p>
        </p:txBody>
      </p:sp>
      <p:pic>
        <p:nvPicPr>
          <p:cNvPr descr="Admin Portal: hàng đợi duyệt KYC" id="253" name="Google Shape;253;p14"/>
          <p:cNvPicPr preferRelativeResize="0"/>
          <p:nvPr/>
        </p:nvPicPr>
        <p:blipFill rotWithShape="1">
          <a:blip r:embed="rId3">
            <a:alphaModFix/>
          </a:blip>
          <a:srcRect b="13889" l="0" r="0" t="0"/>
          <a:stretch/>
        </p:blipFill>
        <p:spPr>
          <a:xfrm>
            <a:off x="819150" y="1520180"/>
            <a:ext cx="5143500" cy="3543300"/>
          </a:xfrm>
          <a:prstGeom prst="roundRect">
            <a:avLst>
              <a:gd fmla="val 2330" name="adj"/>
            </a:avLst>
          </a:prstGeom>
          <a:noFill/>
          <a:ln>
            <a:noFill/>
          </a:ln>
        </p:spPr>
      </p:pic>
      <p:sp>
        <p:nvSpPr>
          <p:cNvPr id="254" name="Google Shape;254;p14"/>
          <p:cNvSpPr/>
          <p:nvPr/>
        </p:nvSpPr>
        <p:spPr>
          <a:xfrm>
            <a:off x="815975" y="1517005"/>
            <a:ext cx="5149850" cy="3549650"/>
          </a:xfrm>
          <a:prstGeom prst="roundRect">
            <a:avLst>
              <a:gd fmla="val 2415" name="adj"/>
            </a:avLst>
          </a:prstGeom>
          <a:no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6200775" y="1517005"/>
            <a:ext cx="5175250" cy="1603921"/>
          </a:xfrm>
          <a:prstGeom prst="roundRect">
            <a:avLst>
              <a:gd fmla="val 6928"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6407150" y="1710680"/>
            <a:ext cx="4905375"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Admin Portal</a:t>
            </a:r>
            <a:endParaRPr i="0" sz="1600" u="none" cap="none" strike="noStrike">
              <a:solidFill>
                <a:schemeClr val="lt1"/>
              </a:solidFill>
              <a:latin typeface="Be Vietnam Pro"/>
              <a:ea typeface="Be Vietnam Pro"/>
              <a:cs typeface="Be Vietnam Pro"/>
              <a:sym typeface="Be Vietnam Pro"/>
            </a:endParaRPr>
          </a:p>
        </p:txBody>
      </p:sp>
      <p:sp>
        <p:nvSpPr>
          <p:cNvPr id="257" name="Google Shape;257;p14"/>
          <p:cNvSpPr/>
          <p:nvPr/>
        </p:nvSpPr>
        <p:spPr>
          <a:xfrm>
            <a:off x="6512306" y="2043410"/>
            <a:ext cx="4792599" cy="909241"/>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Duyệt hoặc từ chối KYC, chỉnh Class</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Trao Award, thu hồi NFT</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Chỉnh điểm thủ công</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Xem Audit Logs (không sửa được)</a:t>
            </a:r>
            <a:endParaRPr i="0" sz="1200" u="none" cap="none" strike="noStrike">
              <a:solidFill>
                <a:schemeClr val="lt1"/>
              </a:solidFill>
              <a:latin typeface="Be Vietnam Pro"/>
              <a:ea typeface="Be Vietnam Pro"/>
              <a:cs typeface="Be Vietnam Pro"/>
              <a:sym typeface="Be Vietnam Pro"/>
            </a:endParaRPr>
          </a:p>
        </p:txBody>
      </p:sp>
      <p:sp>
        <p:nvSpPr>
          <p:cNvPr id="258" name="Google Shape;258;p14"/>
          <p:cNvSpPr/>
          <p:nvPr/>
        </p:nvSpPr>
        <p:spPr>
          <a:xfrm>
            <a:off x="6200775" y="3254276"/>
            <a:ext cx="5175250" cy="1382961"/>
          </a:xfrm>
          <a:prstGeom prst="roundRect">
            <a:avLst>
              <a:gd fmla="val 803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4"/>
          <p:cNvSpPr/>
          <p:nvPr/>
        </p:nvSpPr>
        <p:spPr>
          <a:xfrm>
            <a:off x="6407150" y="3447951"/>
            <a:ext cx="4905375"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600"/>
              <a:buFont typeface="Space Grotesk"/>
              <a:buNone/>
            </a:pPr>
            <a:r>
              <a:rPr b="1" i="0" lang="en-US" sz="1600" u="none" cap="none" strike="noStrike">
                <a:solidFill>
                  <a:srgbClr val="F5B94A"/>
                </a:solidFill>
                <a:latin typeface="Be Vietnam Pro"/>
                <a:ea typeface="Be Vietnam Pro"/>
                <a:cs typeface="Be Vietnam Pro"/>
                <a:sym typeface="Be Vietnam Pro"/>
              </a:rPr>
              <a:t>Kiểm soát nghiệp vụ</a:t>
            </a:r>
            <a:endParaRPr i="0" sz="1600" u="none" cap="none" strike="noStrike">
              <a:solidFill>
                <a:schemeClr val="lt1"/>
              </a:solidFill>
              <a:latin typeface="Be Vietnam Pro"/>
              <a:ea typeface="Be Vietnam Pro"/>
              <a:cs typeface="Be Vietnam Pro"/>
              <a:sym typeface="Be Vietnam Pro"/>
            </a:endParaRPr>
          </a:p>
        </p:txBody>
      </p:sp>
      <p:sp>
        <p:nvSpPr>
          <p:cNvPr id="260" name="Google Shape;260;p14"/>
          <p:cNvSpPr/>
          <p:nvPr/>
        </p:nvSpPr>
        <p:spPr>
          <a:xfrm>
            <a:off x="6512306" y="3780681"/>
            <a:ext cx="4792599" cy="688280"/>
          </a:xfrm>
          <a:prstGeom prst="rect">
            <a:avLst/>
          </a:prstGeom>
          <a:noFill/>
          <a:ln>
            <a:noFill/>
          </a:ln>
        </p:spPr>
        <p:txBody>
          <a:bodyPr anchorCtr="0" anchor="t" bIns="0" lIns="0" spcFirstLastPara="1" rIns="0" wrap="square" tIns="0">
            <a:noAutofit/>
          </a:bodyPr>
          <a:lstStyle/>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KYC trước mọi giao dịch</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Chuyển NFT một lần, Award soulbound</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45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Mọi hành động quan trọng đều ghi nhật ký</a:t>
            </a:r>
            <a:endParaRPr i="0" sz="1200" u="none" cap="none" strike="noStrike">
              <a:solidFill>
                <a:schemeClr val="lt1"/>
              </a:solidFill>
              <a:latin typeface="Be Vietnam Pro"/>
              <a:ea typeface="Be Vietnam Pro"/>
              <a:cs typeface="Be Vietnam Pro"/>
              <a:sym typeface="Be Vietnam Pro"/>
            </a:endParaRPr>
          </a:p>
        </p:txBody>
      </p:sp>
      <p:sp>
        <p:nvSpPr>
          <p:cNvPr id="261" name="Google Shape;261;p1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Quản trị · 10</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266" name="Shape 266"/>
        <p:cNvGrpSpPr/>
        <p:nvPr/>
      </p:nvGrpSpPr>
      <p:grpSpPr>
        <a:xfrm>
          <a:off x="0" y="0"/>
          <a:ext cx="0" cy="0"/>
          <a:chOff x="0" y="0"/>
          <a:chExt cx="0" cy="0"/>
        </a:xfrm>
      </p:grpSpPr>
      <p:sp>
        <p:nvSpPr>
          <p:cNvPr id="267" name="Google Shape;267;p15"/>
          <p:cNvSpPr txBox="1"/>
          <p:nvPr>
            <p:ph type="title"/>
          </p:nvPr>
        </p:nvSpPr>
        <p:spPr>
          <a:xfrm>
            <a:off x="812800" y="812800"/>
            <a:ext cx="10883392" cy="428377"/>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2880"/>
              <a:buFont typeface="Space Grotesk"/>
              <a:buNone/>
            </a:pPr>
            <a:r>
              <a:rPr b="1" i="0" lang="en-US" sz="2880">
                <a:solidFill>
                  <a:srgbClr val="E7ECF8"/>
                </a:solidFill>
                <a:latin typeface="Be Vietnam Pro"/>
                <a:ea typeface="Be Vietnam Pro"/>
                <a:cs typeface="Be Vietnam Pro"/>
                <a:sym typeface="Be Vietnam Pro"/>
              </a:rPr>
              <a:t>Trợ lý AI: hỏi đáp, tra NFT, gợi ý danh hiệu</a:t>
            </a:r>
            <a:endParaRPr sz="2880">
              <a:latin typeface="Be Vietnam Pro"/>
              <a:ea typeface="Be Vietnam Pro"/>
              <a:cs typeface="Be Vietnam Pro"/>
              <a:sym typeface="Be Vietnam Pro"/>
            </a:endParaRPr>
          </a:p>
        </p:txBody>
      </p:sp>
      <p:sp>
        <p:nvSpPr>
          <p:cNvPr id="268" name="Google Shape;268;p15"/>
          <p:cNvSpPr/>
          <p:nvPr/>
        </p:nvSpPr>
        <p:spPr>
          <a:xfrm>
            <a:off x="812800" y="1304677"/>
            <a:ext cx="10883392" cy="257225"/>
          </a:xfrm>
          <a:prstGeom prst="rect">
            <a:avLst/>
          </a:prstGeom>
          <a:noFill/>
          <a:ln>
            <a:noFill/>
          </a:ln>
        </p:spPr>
        <p:txBody>
          <a:bodyPr anchorCtr="0" anchor="t" bIns="0" lIns="0" spcFirstLastPara="1" rIns="0" wrap="square" tIns="0">
            <a:noAutofit/>
          </a:bodyPr>
          <a:lstStyle/>
          <a:p>
            <a:pPr indent="0" lvl="0" marL="0" marR="0" rtl="0" algn="l">
              <a:lnSpc>
                <a:spcPct val="134942"/>
              </a:lnSpc>
              <a:spcBef>
                <a:spcPts val="0"/>
              </a:spcBef>
              <a:spcAft>
                <a:spcPts val="0"/>
              </a:spcAft>
              <a:buClr>
                <a:srgbClr val="A7B1C9"/>
              </a:buClr>
              <a:buSzPts val="1388"/>
              <a:buFont typeface="Inter"/>
              <a:buNone/>
            </a:pPr>
            <a:r>
              <a:rPr lang="en-US" sz="1388">
                <a:solidFill>
                  <a:srgbClr val="A7B1C9"/>
                </a:solidFill>
                <a:latin typeface="Be Vietnam Pro"/>
                <a:ea typeface="Be Vietnam Pro"/>
                <a:cs typeface="Be Vietnam Pro"/>
                <a:sym typeface="Be Vietnam Pro"/>
              </a:rPr>
              <a:t>FR-030 · NFR-001: phản hồi trong 2–5 giây</a:t>
            </a:r>
            <a:endParaRPr i="0" sz="1388" u="none" cap="none" strike="noStrike">
              <a:solidFill>
                <a:srgbClr val="A7B1C9"/>
              </a:solidFill>
              <a:latin typeface="Be Vietnam Pro"/>
              <a:ea typeface="Be Vietnam Pro"/>
              <a:cs typeface="Be Vietnam Pro"/>
              <a:sym typeface="Be Vietnam Pro"/>
            </a:endParaRPr>
          </a:p>
        </p:txBody>
      </p:sp>
      <p:sp>
        <p:nvSpPr>
          <p:cNvPr id="269" name="Google Shape;269;p15"/>
          <p:cNvSpPr/>
          <p:nvPr/>
        </p:nvSpPr>
        <p:spPr>
          <a:xfrm>
            <a:off x="812800" y="1651000"/>
            <a:ext cx="4013100" cy="1346100"/>
          </a:xfrm>
          <a:prstGeom prst="roundRect">
            <a:avLst>
              <a:gd fmla="val 753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5"/>
          <p:cNvSpPr/>
          <p:nvPr/>
        </p:nvSpPr>
        <p:spPr>
          <a:xfrm>
            <a:off x="1054100" y="1828800"/>
            <a:ext cx="35307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1500"/>
              <a:buFont typeface="Space Grotesk"/>
              <a:buNone/>
            </a:pPr>
            <a:r>
              <a:rPr b="1" lang="en-US" sz="1500">
                <a:solidFill>
                  <a:srgbClr val="E7ECF8"/>
                </a:solidFill>
                <a:latin typeface="Be Vietnam Pro"/>
                <a:ea typeface="Be Vietnam Pro"/>
                <a:cs typeface="Be Vietnam Pro"/>
                <a:sym typeface="Be Vietnam Pro"/>
              </a:rPr>
              <a:t>Trợ lý làm được gì</a:t>
            </a:r>
            <a:endParaRPr b="1" i="0" sz="1500" u="none" cap="none" strike="noStrike">
              <a:solidFill>
                <a:srgbClr val="E7ECF8"/>
              </a:solidFill>
              <a:latin typeface="Be Vietnam Pro"/>
              <a:ea typeface="Be Vietnam Pro"/>
              <a:cs typeface="Be Vietnam Pro"/>
              <a:sym typeface="Be Vietnam Pro"/>
            </a:endParaRPr>
          </a:p>
        </p:txBody>
      </p:sp>
      <p:sp>
        <p:nvSpPr>
          <p:cNvPr id="271" name="Google Shape;271;p15"/>
          <p:cNvSpPr/>
          <p:nvPr/>
        </p:nvSpPr>
        <p:spPr>
          <a:xfrm>
            <a:off x="1054100" y="2133600"/>
            <a:ext cx="3530700" cy="73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lang="en-US" sz="1300">
                <a:solidFill>
                  <a:srgbClr val="A7B1C9"/>
                </a:solidFill>
                <a:latin typeface="Be Vietnam Pro"/>
                <a:ea typeface="Be Vietnam Pro"/>
                <a:cs typeface="Be Vietnam Pro"/>
                <a:sym typeface="Be Vietnam Pro"/>
              </a:rPr>
              <a:t>Hỏi đáp về PW, tra NFT của mình, gợi ý danh hiệu theo mục đích. Không tư vấn đầu tư, pháp lý, thuế.</a:t>
            </a:r>
            <a:endParaRPr i="0" sz="1300" u="none" cap="none" strike="noStrike">
              <a:solidFill>
                <a:srgbClr val="A7B1C9"/>
              </a:solidFill>
              <a:latin typeface="Be Vietnam Pro"/>
              <a:ea typeface="Be Vietnam Pro"/>
              <a:cs typeface="Be Vietnam Pro"/>
              <a:sym typeface="Be Vietnam Pro"/>
            </a:endParaRPr>
          </a:p>
        </p:txBody>
      </p:sp>
      <p:sp>
        <p:nvSpPr>
          <p:cNvPr id="272" name="Google Shape;272;p15"/>
          <p:cNvSpPr/>
          <p:nvPr/>
        </p:nvSpPr>
        <p:spPr>
          <a:xfrm>
            <a:off x="812800" y="3098800"/>
            <a:ext cx="4013100" cy="1346100"/>
          </a:xfrm>
          <a:prstGeom prst="roundRect">
            <a:avLst>
              <a:gd fmla="val 7537"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p:nvPr/>
        </p:nvSpPr>
        <p:spPr>
          <a:xfrm>
            <a:off x="1054100" y="3276600"/>
            <a:ext cx="35307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1500"/>
              <a:buFont typeface="Space Grotesk"/>
              <a:buNone/>
            </a:pPr>
            <a:r>
              <a:rPr b="1" lang="en-US" sz="1500">
                <a:solidFill>
                  <a:srgbClr val="E7ECF8"/>
                </a:solidFill>
                <a:latin typeface="Be Vietnam Pro"/>
                <a:ea typeface="Be Vietnam Pro"/>
                <a:cs typeface="Be Vietnam Pro"/>
                <a:sym typeface="Be Vietnam Pro"/>
              </a:rPr>
              <a:t>Làm đúng bằng cách nào</a:t>
            </a:r>
            <a:endParaRPr b="1" i="0" sz="1500" u="none" cap="none" strike="noStrike">
              <a:solidFill>
                <a:srgbClr val="E7ECF8"/>
              </a:solidFill>
              <a:latin typeface="Be Vietnam Pro"/>
              <a:ea typeface="Be Vietnam Pro"/>
              <a:cs typeface="Be Vietnam Pro"/>
              <a:sym typeface="Be Vietnam Pro"/>
            </a:endParaRPr>
          </a:p>
        </p:txBody>
      </p:sp>
      <p:sp>
        <p:nvSpPr>
          <p:cNvPr id="274" name="Google Shape;274;p15"/>
          <p:cNvSpPr/>
          <p:nvPr/>
        </p:nvSpPr>
        <p:spPr>
          <a:xfrm>
            <a:off x="1054100" y="3581400"/>
            <a:ext cx="3530700" cy="73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lang="en-US" sz="1300">
                <a:solidFill>
                  <a:srgbClr val="A7B1C9"/>
                </a:solidFill>
                <a:latin typeface="Be Vietnam Pro"/>
                <a:ea typeface="Be Vietnam Pro"/>
                <a:cs typeface="Be Vietnam Pro"/>
                <a:sym typeface="Be Vietnam Pro"/>
              </a:rPr>
              <a:t>Quy tắc lấy từ tài liệu của PW. Điểm, hạng, NFT đọc trực tiếp theo quyền của người hỏi; không có dữ liệu thì nói là không có.</a:t>
            </a:r>
            <a:endParaRPr i="0" sz="1300" u="none" cap="none" strike="noStrike">
              <a:solidFill>
                <a:srgbClr val="A7B1C9"/>
              </a:solidFill>
              <a:latin typeface="Be Vietnam Pro"/>
              <a:ea typeface="Be Vietnam Pro"/>
              <a:cs typeface="Be Vietnam Pro"/>
              <a:sym typeface="Be Vietnam Pro"/>
            </a:endParaRPr>
          </a:p>
        </p:txBody>
      </p:sp>
      <p:sp>
        <p:nvSpPr>
          <p:cNvPr id="275" name="Google Shape;275;p15"/>
          <p:cNvSpPr/>
          <p:nvPr/>
        </p:nvSpPr>
        <p:spPr>
          <a:xfrm>
            <a:off x="812800" y="4546600"/>
            <a:ext cx="4013100" cy="1346100"/>
          </a:xfrm>
          <a:prstGeom prst="roundRect">
            <a:avLst>
              <a:gd fmla="val 8938"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5"/>
          <p:cNvSpPr/>
          <p:nvPr/>
        </p:nvSpPr>
        <p:spPr>
          <a:xfrm>
            <a:off x="1054100" y="4724400"/>
            <a:ext cx="35307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7ECF8"/>
              </a:buClr>
              <a:buSzPts val="1500"/>
              <a:buFont typeface="Space Grotesk"/>
              <a:buNone/>
            </a:pPr>
            <a:r>
              <a:rPr b="1" lang="en-US" sz="1500">
                <a:solidFill>
                  <a:srgbClr val="E7ECF8"/>
                </a:solidFill>
                <a:latin typeface="Be Vietnam Pro"/>
                <a:ea typeface="Be Vietnam Pro"/>
                <a:cs typeface="Be Vietnam Pro"/>
                <a:sym typeface="Be Vietnam Pro"/>
              </a:rPr>
              <a:t>Demo và bản thật</a:t>
            </a:r>
            <a:endParaRPr b="1" i="0" sz="1500" u="none" cap="none" strike="noStrike">
              <a:solidFill>
                <a:srgbClr val="E7ECF8"/>
              </a:solidFill>
              <a:latin typeface="Be Vietnam Pro"/>
              <a:ea typeface="Be Vietnam Pro"/>
              <a:cs typeface="Be Vietnam Pro"/>
              <a:sym typeface="Be Vietnam Pro"/>
            </a:endParaRPr>
          </a:p>
        </p:txBody>
      </p:sp>
      <p:sp>
        <p:nvSpPr>
          <p:cNvPr id="277" name="Google Shape;277;p15"/>
          <p:cNvSpPr/>
          <p:nvPr/>
        </p:nvSpPr>
        <p:spPr>
          <a:xfrm>
            <a:off x="1054100" y="5029200"/>
            <a:ext cx="3530700" cy="73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300"/>
              <a:buFont typeface="Inter"/>
              <a:buNone/>
            </a:pPr>
            <a:r>
              <a:rPr lang="en-US" sz="1300">
                <a:solidFill>
                  <a:srgbClr val="A7B1C9"/>
                </a:solidFill>
                <a:latin typeface="Be Vietnam Pro"/>
                <a:ea typeface="Be Vietnam Pro"/>
                <a:cs typeface="Be Vietnam Pro"/>
                <a:sym typeface="Be Vietnam Pro"/>
              </a:rPr>
              <a:t>Phần tìm tài liệu chạy thật, bộ 33 câu kiểm thử đạt. Bước viết câu trả lời là giả lập; bản thật sẽ dùng mô hình ngôn ngữ.</a:t>
            </a:r>
            <a:endParaRPr i="0" sz="1300" u="none" cap="none" strike="noStrike">
              <a:solidFill>
                <a:srgbClr val="A7B1C9"/>
              </a:solidFill>
              <a:latin typeface="Be Vietnam Pro"/>
              <a:ea typeface="Be Vietnam Pro"/>
              <a:cs typeface="Be Vietnam Pro"/>
              <a:sym typeface="Be Vietnam Pro"/>
            </a:endParaRPr>
          </a:p>
        </p:txBody>
      </p:sp>
      <p:sp>
        <p:nvSpPr>
          <p:cNvPr id="278" name="Google Shape;278;p1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AI Assistant · 11</a:t>
            </a:r>
            <a:endParaRPr i="0" sz="1200" u="none" cap="none" strike="noStrike">
              <a:solidFill>
                <a:schemeClr val="lt1"/>
              </a:solidFill>
              <a:latin typeface="Be Vietnam Pro"/>
              <a:ea typeface="Be Vietnam Pro"/>
              <a:cs typeface="Be Vietnam Pro"/>
              <a:sym typeface="Be Vietnam Pro"/>
            </a:endParaRPr>
          </a:p>
        </p:txBody>
      </p:sp>
      <p:sp>
        <p:nvSpPr>
          <p:cNvPr descr="ai-flow" id="279" name="Google Shape;279;p15"/>
          <p:cNvSpPr/>
          <p:nvPr/>
        </p:nvSpPr>
        <p:spPr>
          <a:xfrm>
            <a:off x="5054600" y="1651000"/>
            <a:ext cx="6642000" cy="6603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80" name="Google Shape;280;p15"/>
          <p:cNvSpPr/>
          <p:nvPr/>
        </p:nvSpPr>
        <p:spPr>
          <a:xfrm>
            <a:off x="5257800" y="1816100"/>
            <a:ext cx="330300" cy="3303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0D1220"/>
                </a:solidFill>
                <a:latin typeface="Be Vietnam Pro"/>
                <a:ea typeface="Be Vietnam Pro"/>
                <a:cs typeface="Be Vietnam Pro"/>
                <a:sym typeface="Be Vietnam Pro"/>
              </a:rPr>
              <a:t>1</a:t>
            </a:r>
            <a:endParaRPr b="1" sz="1200">
              <a:solidFill>
                <a:srgbClr val="0D1220"/>
              </a:solidFill>
              <a:latin typeface="Be Vietnam Pro"/>
              <a:ea typeface="Be Vietnam Pro"/>
              <a:cs typeface="Be Vietnam Pro"/>
              <a:sym typeface="Be Vietnam Pro"/>
            </a:endParaRPr>
          </a:p>
        </p:txBody>
      </p:sp>
      <p:sp>
        <p:nvSpPr>
          <p:cNvPr descr="ai-flow" id="281" name="Google Shape;281;p15"/>
          <p:cNvSpPr txBox="1"/>
          <p:nvPr/>
        </p:nvSpPr>
        <p:spPr>
          <a:xfrm>
            <a:off x="5765800" y="1676400"/>
            <a:ext cx="57276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6C9CFF"/>
                </a:solidFill>
                <a:latin typeface="Be Vietnam Pro"/>
                <a:ea typeface="Be Vietnam Pro"/>
                <a:cs typeface="Be Vietnam Pro"/>
                <a:sym typeface="Be Vietnam Pro"/>
              </a:rPr>
              <a:t>Câu hỏi</a:t>
            </a:r>
            <a:endParaRPr b="1">
              <a:solidFill>
                <a:srgbClr val="6C9CFF"/>
              </a:solidFill>
              <a:latin typeface="Be Vietnam Pro"/>
              <a:ea typeface="Be Vietnam Pro"/>
              <a:cs typeface="Be Vietnam Pro"/>
              <a:sym typeface="Be Vietnam Pro"/>
            </a:endParaRPr>
          </a:p>
        </p:txBody>
      </p:sp>
      <p:sp>
        <p:nvSpPr>
          <p:cNvPr descr="ai-flow" id="282" name="Google Shape;282;p15"/>
          <p:cNvSpPr/>
          <p:nvPr/>
        </p:nvSpPr>
        <p:spPr>
          <a:xfrm rot="5400000">
            <a:off x="5346700" y="2349500"/>
            <a:ext cx="152400" cy="1269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83" name="Google Shape;283;p15"/>
          <p:cNvSpPr/>
          <p:nvPr/>
        </p:nvSpPr>
        <p:spPr>
          <a:xfrm>
            <a:off x="5054600" y="2514600"/>
            <a:ext cx="6642000" cy="6603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84" name="Google Shape;284;p15"/>
          <p:cNvSpPr/>
          <p:nvPr/>
        </p:nvSpPr>
        <p:spPr>
          <a:xfrm>
            <a:off x="5257800" y="2679700"/>
            <a:ext cx="330300" cy="3303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0D1220"/>
                </a:solidFill>
                <a:latin typeface="Be Vietnam Pro"/>
                <a:ea typeface="Be Vietnam Pro"/>
                <a:cs typeface="Be Vietnam Pro"/>
                <a:sym typeface="Be Vietnam Pro"/>
              </a:rPr>
              <a:t>2</a:t>
            </a:r>
            <a:endParaRPr b="1" sz="1200">
              <a:solidFill>
                <a:srgbClr val="0D1220"/>
              </a:solidFill>
              <a:latin typeface="Be Vietnam Pro"/>
              <a:ea typeface="Be Vietnam Pro"/>
              <a:cs typeface="Be Vietnam Pro"/>
              <a:sym typeface="Be Vietnam Pro"/>
            </a:endParaRPr>
          </a:p>
        </p:txBody>
      </p:sp>
      <p:sp>
        <p:nvSpPr>
          <p:cNvPr descr="ai-flow" id="285" name="Google Shape;285;p15"/>
          <p:cNvSpPr txBox="1"/>
          <p:nvPr/>
        </p:nvSpPr>
        <p:spPr>
          <a:xfrm>
            <a:off x="5765800" y="2540000"/>
            <a:ext cx="57276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6C9CFF"/>
                </a:solidFill>
                <a:latin typeface="Be Vietnam Pro"/>
                <a:ea typeface="Be Vietnam Pro"/>
                <a:cs typeface="Be Vietnam Pro"/>
                <a:sym typeface="Be Vietnam Pro"/>
              </a:rPr>
              <a:t>Kiểm tra</a:t>
            </a:r>
            <a:endParaRPr b="1">
              <a:solidFill>
                <a:srgbClr val="6C9CFF"/>
              </a:solidFill>
              <a:latin typeface="Be Vietnam Pro"/>
              <a:ea typeface="Be Vietnam Pro"/>
              <a:cs typeface="Be Vietnam Pro"/>
              <a:sym typeface="Be Vietnam Pro"/>
            </a:endParaRPr>
          </a:p>
          <a:p>
            <a:pPr indent="0" lvl="0" marL="0" marR="0" rtl="0" algn="l">
              <a:lnSpc>
                <a:spcPct val="100000"/>
              </a:lnSpc>
              <a:spcBef>
                <a:spcPts val="300"/>
              </a:spcBef>
              <a:spcAft>
                <a:spcPts val="0"/>
              </a:spcAft>
              <a:buNone/>
            </a:pPr>
            <a:r>
              <a:rPr lang="en-US" sz="1100">
                <a:solidFill>
                  <a:srgbClr val="E7ECF8"/>
                </a:solidFill>
                <a:latin typeface="Be Vietnam Pro"/>
                <a:ea typeface="Be Vietnam Pro"/>
                <a:cs typeface="Be Vietnam Pro"/>
                <a:sym typeface="Be Vietnam Pro"/>
              </a:rPr>
              <a:t>Chặn tư vấn đầu tư, chặn hỏi dữ liệu của người khác</a:t>
            </a:r>
            <a:endParaRPr sz="1100">
              <a:solidFill>
                <a:srgbClr val="E7ECF8"/>
              </a:solidFill>
              <a:latin typeface="Be Vietnam Pro"/>
              <a:ea typeface="Be Vietnam Pro"/>
              <a:cs typeface="Be Vietnam Pro"/>
              <a:sym typeface="Be Vietnam Pro"/>
            </a:endParaRPr>
          </a:p>
        </p:txBody>
      </p:sp>
      <p:sp>
        <p:nvSpPr>
          <p:cNvPr descr="ai-flow" id="286" name="Google Shape;286;p15"/>
          <p:cNvSpPr/>
          <p:nvPr/>
        </p:nvSpPr>
        <p:spPr>
          <a:xfrm rot="5400000">
            <a:off x="5346700" y="3213100"/>
            <a:ext cx="152400" cy="1269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87" name="Google Shape;287;p15"/>
          <p:cNvSpPr/>
          <p:nvPr/>
        </p:nvSpPr>
        <p:spPr>
          <a:xfrm>
            <a:off x="5054600" y="3378200"/>
            <a:ext cx="6642000" cy="6603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88" name="Google Shape;288;p15"/>
          <p:cNvSpPr/>
          <p:nvPr/>
        </p:nvSpPr>
        <p:spPr>
          <a:xfrm>
            <a:off x="5257800" y="3543300"/>
            <a:ext cx="330300" cy="3303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0D1220"/>
                </a:solidFill>
                <a:latin typeface="Be Vietnam Pro"/>
                <a:ea typeface="Be Vietnam Pro"/>
                <a:cs typeface="Be Vietnam Pro"/>
                <a:sym typeface="Be Vietnam Pro"/>
              </a:rPr>
              <a:t>3</a:t>
            </a:r>
            <a:endParaRPr b="1" sz="1200">
              <a:solidFill>
                <a:srgbClr val="0D1220"/>
              </a:solidFill>
              <a:latin typeface="Be Vietnam Pro"/>
              <a:ea typeface="Be Vietnam Pro"/>
              <a:cs typeface="Be Vietnam Pro"/>
              <a:sym typeface="Be Vietnam Pro"/>
            </a:endParaRPr>
          </a:p>
        </p:txBody>
      </p:sp>
      <p:sp>
        <p:nvSpPr>
          <p:cNvPr descr="ai-flow" id="289" name="Google Shape;289;p15"/>
          <p:cNvSpPr txBox="1"/>
          <p:nvPr/>
        </p:nvSpPr>
        <p:spPr>
          <a:xfrm>
            <a:off x="5765800" y="3403600"/>
            <a:ext cx="57276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6C9CFF"/>
                </a:solidFill>
                <a:latin typeface="Be Vietnam Pro"/>
                <a:ea typeface="Be Vietnam Pro"/>
                <a:cs typeface="Be Vietnam Pro"/>
                <a:sym typeface="Be Vietnam Pro"/>
              </a:rPr>
              <a:t>Lấy thông tin</a:t>
            </a:r>
            <a:endParaRPr b="1">
              <a:solidFill>
                <a:srgbClr val="6C9CFF"/>
              </a:solidFill>
              <a:latin typeface="Be Vietnam Pro"/>
              <a:ea typeface="Be Vietnam Pro"/>
              <a:cs typeface="Be Vietnam Pro"/>
              <a:sym typeface="Be Vietnam Pro"/>
            </a:endParaRPr>
          </a:p>
          <a:p>
            <a:pPr indent="0" lvl="0" marL="0" marR="0" rtl="0" algn="l">
              <a:lnSpc>
                <a:spcPct val="100000"/>
              </a:lnSpc>
              <a:spcBef>
                <a:spcPts val="300"/>
              </a:spcBef>
              <a:spcAft>
                <a:spcPts val="0"/>
              </a:spcAft>
              <a:buNone/>
            </a:pPr>
            <a:r>
              <a:rPr lang="en-US" sz="1100">
                <a:solidFill>
                  <a:srgbClr val="E7ECF8"/>
                </a:solidFill>
                <a:latin typeface="Be Vietnam Pro"/>
                <a:ea typeface="Be Vietnam Pro"/>
                <a:cs typeface="Be Vietnam Pro"/>
                <a:sym typeface="Be Vietnam Pro"/>
              </a:rPr>
              <a:t>Số liệu sống và tài liệu của PW</a:t>
            </a:r>
            <a:endParaRPr sz="1100">
              <a:solidFill>
                <a:srgbClr val="E7ECF8"/>
              </a:solidFill>
              <a:latin typeface="Be Vietnam Pro"/>
              <a:ea typeface="Be Vietnam Pro"/>
              <a:cs typeface="Be Vietnam Pro"/>
              <a:sym typeface="Be Vietnam Pro"/>
            </a:endParaRPr>
          </a:p>
        </p:txBody>
      </p:sp>
      <p:sp>
        <p:nvSpPr>
          <p:cNvPr descr="ai-flow" id="290" name="Google Shape;290;p15"/>
          <p:cNvSpPr/>
          <p:nvPr/>
        </p:nvSpPr>
        <p:spPr>
          <a:xfrm rot="5400000">
            <a:off x="5346700" y="4076700"/>
            <a:ext cx="152400" cy="1269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91" name="Google Shape;291;p15"/>
          <p:cNvSpPr/>
          <p:nvPr/>
        </p:nvSpPr>
        <p:spPr>
          <a:xfrm>
            <a:off x="5054600" y="4241800"/>
            <a:ext cx="6642000" cy="6603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92" name="Google Shape;292;p15"/>
          <p:cNvSpPr/>
          <p:nvPr/>
        </p:nvSpPr>
        <p:spPr>
          <a:xfrm>
            <a:off x="5257800" y="4406900"/>
            <a:ext cx="330300" cy="3303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0D1220"/>
                </a:solidFill>
                <a:latin typeface="Be Vietnam Pro"/>
                <a:ea typeface="Be Vietnam Pro"/>
                <a:cs typeface="Be Vietnam Pro"/>
                <a:sym typeface="Be Vietnam Pro"/>
              </a:rPr>
              <a:t>4</a:t>
            </a:r>
            <a:endParaRPr b="1" sz="1200">
              <a:solidFill>
                <a:srgbClr val="0D1220"/>
              </a:solidFill>
              <a:latin typeface="Be Vietnam Pro"/>
              <a:ea typeface="Be Vietnam Pro"/>
              <a:cs typeface="Be Vietnam Pro"/>
              <a:sym typeface="Be Vietnam Pro"/>
            </a:endParaRPr>
          </a:p>
        </p:txBody>
      </p:sp>
      <p:sp>
        <p:nvSpPr>
          <p:cNvPr descr="ai-flow" id="293" name="Google Shape;293;p15"/>
          <p:cNvSpPr txBox="1"/>
          <p:nvPr/>
        </p:nvSpPr>
        <p:spPr>
          <a:xfrm>
            <a:off x="5765800" y="4267200"/>
            <a:ext cx="57276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6C9CFF"/>
                </a:solidFill>
                <a:latin typeface="Be Vietnam Pro"/>
                <a:ea typeface="Be Vietnam Pro"/>
                <a:cs typeface="Be Vietnam Pro"/>
                <a:sym typeface="Be Vietnam Pro"/>
              </a:rPr>
              <a:t>Viết câu trả lời</a:t>
            </a:r>
            <a:endParaRPr b="1">
              <a:solidFill>
                <a:srgbClr val="6C9CFF"/>
              </a:solidFill>
              <a:latin typeface="Be Vietnam Pro"/>
              <a:ea typeface="Be Vietnam Pro"/>
              <a:cs typeface="Be Vietnam Pro"/>
              <a:sym typeface="Be Vietnam Pro"/>
            </a:endParaRPr>
          </a:p>
        </p:txBody>
      </p:sp>
      <p:sp>
        <p:nvSpPr>
          <p:cNvPr descr="ai-flow" id="294" name="Google Shape;294;p15"/>
          <p:cNvSpPr/>
          <p:nvPr/>
        </p:nvSpPr>
        <p:spPr>
          <a:xfrm rot="5400000">
            <a:off x="5346700" y="4940300"/>
            <a:ext cx="152400" cy="126900"/>
          </a:xfrm>
          <a:prstGeom prst="rightArrow">
            <a:avLst>
              <a:gd fmla="val 50000" name="adj1"/>
              <a:gd fmla="val 50000" name="adj2"/>
            </a:avLst>
          </a:prstGeom>
          <a:solidFill>
            <a:srgbClr val="6C9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95" name="Google Shape;295;p15"/>
          <p:cNvSpPr/>
          <p:nvPr/>
        </p:nvSpPr>
        <p:spPr>
          <a:xfrm>
            <a:off x="5054600" y="5105400"/>
            <a:ext cx="6642000" cy="660300"/>
          </a:xfrm>
          <a:prstGeom prst="roundRect">
            <a:avLst>
              <a:gd fmla="val 6000" name="adj"/>
            </a:avLst>
          </a:prstGeom>
          <a:solidFill>
            <a:srgbClr val="1B2440"/>
          </a:solidFill>
          <a:ln cap="flat" cmpd="sng" w="9525">
            <a:solidFill>
              <a:srgbClr val="2A355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Inter"/>
              <a:ea typeface="Inter"/>
              <a:cs typeface="Inter"/>
              <a:sym typeface="Inter"/>
            </a:endParaRPr>
          </a:p>
        </p:txBody>
      </p:sp>
      <p:sp>
        <p:nvSpPr>
          <p:cNvPr descr="ai-flow" id="296" name="Google Shape;296;p15"/>
          <p:cNvSpPr/>
          <p:nvPr/>
        </p:nvSpPr>
        <p:spPr>
          <a:xfrm>
            <a:off x="5257800" y="5270500"/>
            <a:ext cx="330300" cy="330300"/>
          </a:xfrm>
          <a:prstGeom prst="ellipse">
            <a:avLst/>
          </a:prstGeom>
          <a:solidFill>
            <a:srgbClr val="6C9CFF"/>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rgbClr val="0D1220"/>
                </a:solidFill>
                <a:latin typeface="Be Vietnam Pro"/>
                <a:ea typeface="Be Vietnam Pro"/>
                <a:cs typeface="Be Vietnam Pro"/>
                <a:sym typeface="Be Vietnam Pro"/>
              </a:rPr>
              <a:t>5</a:t>
            </a:r>
            <a:endParaRPr b="1" sz="1200">
              <a:solidFill>
                <a:srgbClr val="0D1220"/>
              </a:solidFill>
              <a:latin typeface="Be Vietnam Pro"/>
              <a:ea typeface="Be Vietnam Pro"/>
              <a:cs typeface="Be Vietnam Pro"/>
              <a:sym typeface="Be Vietnam Pro"/>
            </a:endParaRPr>
          </a:p>
        </p:txBody>
      </p:sp>
      <p:sp>
        <p:nvSpPr>
          <p:cNvPr descr="ai-flow" id="297" name="Google Shape;297;p15"/>
          <p:cNvSpPr txBox="1"/>
          <p:nvPr/>
        </p:nvSpPr>
        <p:spPr>
          <a:xfrm>
            <a:off x="5765800" y="5130800"/>
            <a:ext cx="5727600" cy="60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6C9CFF"/>
                </a:solidFill>
                <a:latin typeface="Be Vietnam Pro"/>
                <a:ea typeface="Be Vietnam Pro"/>
                <a:cs typeface="Be Vietnam Pro"/>
                <a:sym typeface="Be Vietnam Pro"/>
              </a:rPr>
              <a:t>Kiểm tra và gửi</a:t>
            </a:r>
            <a:endParaRPr b="1">
              <a:solidFill>
                <a:srgbClr val="6C9CFF"/>
              </a:solidFill>
              <a:latin typeface="Be Vietnam Pro"/>
              <a:ea typeface="Be Vietnam Pro"/>
              <a:cs typeface="Be Vietnam Pro"/>
              <a:sym typeface="Be Vietnam Pro"/>
            </a:endParaRPr>
          </a:p>
        </p:txBody>
      </p:sp>
      <p:sp>
        <p:nvSpPr>
          <p:cNvPr descr="ai-flow" id="298" name="Google Shape;298;p15"/>
          <p:cNvSpPr txBox="1"/>
          <p:nvPr/>
        </p:nvSpPr>
        <p:spPr>
          <a:xfrm>
            <a:off x="5054600" y="5867400"/>
            <a:ext cx="6642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A7B1C9"/>
                </a:solidFill>
                <a:latin typeface="Be Vietnam Pro"/>
                <a:ea typeface="Be Vietnam Pro"/>
                <a:cs typeface="Be Vietnam Pro"/>
                <a:sym typeface="Be Vietnam Pro"/>
              </a:rPr>
              <a:t>Sơ đồ đầy đủ: D7.1 và D7.2</a:t>
            </a:r>
            <a:endParaRPr sz="1100">
              <a:solidFill>
                <a:srgbClr val="A7B1C9"/>
              </a:solidFill>
              <a:latin typeface="Be Vietnam Pro"/>
              <a:ea typeface="Be Vietnam Pro"/>
              <a:cs typeface="Be Vietnam Pro"/>
              <a:sym typeface="Be Vietnam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303" name="Shape 303"/>
        <p:cNvGrpSpPr/>
        <p:nvPr/>
      </p:nvGrpSpPr>
      <p:grpSpPr>
        <a:xfrm>
          <a:off x="0" y="0"/>
          <a:ext cx="0" cy="0"/>
          <a:chOff x="0" y="0"/>
          <a:chExt cx="0" cy="0"/>
        </a:xfrm>
      </p:grpSpPr>
      <p:sp>
        <p:nvSpPr>
          <p:cNvPr id="304" name="Google Shape;304;p16"/>
          <p:cNvSpPr txBox="1"/>
          <p:nvPr>
            <p:ph type="title"/>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E7ECF8"/>
              </a:buClr>
              <a:buSzPts val="3200"/>
              <a:buFont typeface="Space Grotesk"/>
              <a:buNone/>
            </a:pPr>
            <a:r>
              <a:rPr b="1" i="0" lang="en-US" sz="3200">
                <a:solidFill>
                  <a:srgbClr val="E7ECF8"/>
                </a:solidFill>
                <a:latin typeface="Be Vietnam Pro"/>
                <a:ea typeface="Be Vietnam Pro"/>
                <a:cs typeface="Be Vietnam Pro"/>
                <a:sym typeface="Be Vietnam Pro"/>
              </a:rPr>
              <a:t>Phạm vi, dịch vụ bên ngoài và kế hoạch</a:t>
            </a:r>
            <a:endParaRPr sz="3200">
              <a:latin typeface="Be Vietnam Pro"/>
              <a:ea typeface="Be Vietnam Pro"/>
              <a:cs typeface="Be Vietnam Pro"/>
              <a:sym typeface="Be Vietnam Pro"/>
            </a:endParaRPr>
          </a:p>
        </p:txBody>
      </p:sp>
      <p:sp>
        <p:nvSpPr>
          <p:cNvPr id="305" name="Google Shape;305;p16"/>
          <p:cNvSpPr/>
          <p:nvPr/>
        </p:nvSpPr>
        <p:spPr>
          <a:xfrm>
            <a:off x="812800" y="1625600"/>
            <a:ext cx="3492600" cy="2641500"/>
          </a:xfrm>
          <a:prstGeom prst="roundRect">
            <a:avLst>
              <a:gd fmla="val 608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p:nvPr/>
        </p:nvSpPr>
        <p:spPr>
          <a:xfrm>
            <a:off x="1066800" y="1879600"/>
            <a:ext cx="2984400" cy="279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Dùng dịch vụ có sẵn</a:t>
            </a:r>
            <a:endParaRPr i="0" sz="1600" u="none" cap="none" strike="noStrike">
              <a:solidFill>
                <a:schemeClr val="lt1"/>
              </a:solidFill>
              <a:latin typeface="Be Vietnam Pro"/>
              <a:ea typeface="Be Vietnam Pro"/>
              <a:cs typeface="Be Vietnam Pro"/>
              <a:sym typeface="Be Vietnam Pro"/>
            </a:endParaRPr>
          </a:p>
        </p:txBody>
      </p:sp>
      <p:sp>
        <p:nvSpPr>
          <p:cNvPr id="307" name="Google Shape;307;p16"/>
          <p:cNvSpPr/>
          <p:nvPr/>
        </p:nvSpPr>
        <p:spPr>
          <a:xfrm>
            <a:off x="1066800" y="2336800"/>
            <a:ext cx="3086100" cy="1727100"/>
          </a:xfrm>
          <a:prstGeom prst="rect">
            <a:avLst/>
          </a:prstGeom>
          <a:noFill/>
          <a:ln>
            <a:noFill/>
          </a:ln>
        </p:spPr>
        <p:txBody>
          <a:bodyPr anchorCtr="0" anchor="t" bIns="0" lIns="0" spcFirstLastPara="1" rIns="0" wrap="square" tIns="0">
            <a:noAutofit/>
          </a:bodyPr>
          <a:lstStyle/>
          <a:p>
            <a:pPr indent="-148844" lvl="0" marL="148844" marR="0" rtl="0" algn="l">
              <a:lnSpc>
                <a:spcPct val="130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Circle: ví giữ hộ</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Alchemy: tương tác blockchain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Cổng thanh toán thẻ</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60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Dịch vụ AI và email</a:t>
            </a:r>
            <a:endParaRPr i="0" sz="1200" u="none" cap="none" strike="noStrike">
              <a:solidFill>
                <a:schemeClr val="lt1"/>
              </a:solidFill>
              <a:latin typeface="Be Vietnam Pro"/>
              <a:ea typeface="Be Vietnam Pro"/>
              <a:cs typeface="Be Vietnam Pro"/>
              <a:sym typeface="Be Vietnam Pro"/>
            </a:endParaRPr>
          </a:p>
        </p:txBody>
      </p:sp>
      <p:sp>
        <p:nvSpPr>
          <p:cNvPr id="308" name="Google Shape;308;p16"/>
          <p:cNvSpPr/>
          <p:nvPr/>
        </p:nvSpPr>
        <p:spPr>
          <a:xfrm>
            <a:off x="4508500" y="1625600"/>
            <a:ext cx="3492600" cy="2641500"/>
          </a:xfrm>
          <a:prstGeom prst="roundRect">
            <a:avLst>
              <a:gd fmla="val 608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p:nvPr/>
        </p:nvSpPr>
        <p:spPr>
          <a:xfrm>
            <a:off x="4762500" y="1879600"/>
            <a:ext cx="2984400" cy="279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600"/>
              <a:buFont typeface="Space Grotesk"/>
              <a:buNone/>
            </a:pPr>
            <a:r>
              <a:rPr b="1" i="0" lang="en-US" sz="1600" u="none" cap="none" strike="noStrike">
                <a:solidFill>
                  <a:srgbClr val="F5B94A"/>
                </a:solidFill>
                <a:latin typeface="Be Vietnam Pro"/>
                <a:ea typeface="Be Vietnam Pro"/>
                <a:cs typeface="Be Vietnam Pro"/>
                <a:sym typeface="Be Vietnam Pro"/>
              </a:rPr>
              <a:t>Ngoài phạm vi</a:t>
            </a:r>
            <a:endParaRPr i="0" sz="1600" u="none" cap="none" strike="noStrike">
              <a:solidFill>
                <a:schemeClr val="lt1"/>
              </a:solidFill>
              <a:latin typeface="Be Vietnam Pro"/>
              <a:ea typeface="Be Vietnam Pro"/>
              <a:cs typeface="Be Vietnam Pro"/>
              <a:sym typeface="Be Vietnam Pro"/>
            </a:endParaRPr>
          </a:p>
        </p:txBody>
      </p:sp>
      <p:sp>
        <p:nvSpPr>
          <p:cNvPr id="310" name="Google Shape;310;p16"/>
          <p:cNvSpPr/>
          <p:nvPr/>
        </p:nvSpPr>
        <p:spPr>
          <a:xfrm>
            <a:off x="4762500" y="2336800"/>
            <a:ext cx="3086100" cy="1727100"/>
          </a:xfrm>
          <a:prstGeom prst="rect">
            <a:avLst/>
          </a:prstGeom>
          <a:noFill/>
          <a:ln>
            <a:noFill/>
          </a:ln>
        </p:spPr>
        <p:txBody>
          <a:bodyPr anchorCtr="0" anchor="t" bIns="0" lIns="0" spcFirstLastPara="1" rIns="0" wrap="square" tIns="0">
            <a:noAutofit/>
          </a:bodyPr>
          <a:lstStyle/>
          <a:p>
            <a:pPr indent="-148844" lvl="0" marL="148844" marR="0" rtl="0" algn="l">
              <a:lnSpc>
                <a:spcPct val="130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Vận hành node blockchain</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Đào tạo người dùng cuối</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Tự xây hạ tầng ví, node, KYC</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Mua bằng chuyển khoản hoặc crypto</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60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Chợ bán lại NFT, chuyển NFT cho chủ khác</a:t>
            </a:r>
            <a:endParaRPr i="0" sz="1200" u="none" cap="none" strike="noStrike">
              <a:solidFill>
                <a:schemeClr val="lt1"/>
              </a:solidFill>
              <a:latin typeface="Be Vietnam Pro"/>
              <a:ea typeface="Be Vietnam Pro"/>
              <a:cs typeface="Be Vietnam Pro"/>
              <a:sym typeface="Be Vietnam Pro"/>
            </a:endParaRPr>
          </a:p>
        </p:txBody>
      </p:sp>
      <p:sp>
        <p:nvSpPr>
          <p:cNvPr id="311" name="Google Shape;311;p16"/>
          <p:cNvSpPr/>
          <p:nvPr/>
        </p:nvSpPr>
        <p:spPr>
          <a:xfrm>
            <a:off x="8204200" y="1625600"/>
            <a:ext cx="3492600" cy="2641500"/>
          </a:xfrm>
          <a:prstGeom prst="roundRect">
            <a:avLst>
              <a:gd fmla="val 6089"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p:nvPr/>
        </p:nvSpPr>
        <p:spPr>
          <a:xfrm>
            <a:off x="8458200" y="1879600"/>
            <a:ext cx="2984400" cy="279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Kế hoạch</a:t>
            </a:r>
            <a:endParaRPr i="0" sz="1600" u="none" cap="none" strike="noStrike">
              <a:solidFill>
                <a:schemeClr val="lt1"/>
              </a:solidFill>
              <a:latin typeface="Be Vietnam Pro"/>
              <a:ea typeface="Be Vietnam Pro"/>
              <a:cs typeface="Be Vietnam Pro"/>
              <a:sym typeface="Be Vietnam Pro"/>
            </a:endParaRPr>
          </a:p>
        </p:txBody>
      </p:sp>
      <p:sp>
        <p:nvSpPr>
          <p:cNvPr id="313" name="Google Shape;313;p16"/>
          <p:cNvSpPr/>
          <p:nvPr/>
        </p:nvSpPr>
        <p:spPr>
          <a:xfrm>
            <a:off x="8458200" y="2336800"/>
            <a:ext cx="3086100" cy="1727100"/>
          </a:xfrm>
          <a:prstGeom prst="rect">
            <a:avLst/>
          </a:prstGeom>
          <a:noFill/>
          <a:ln>
            <a:noFill/>
          </a:ln>
        </p:spPr>
        <p:txBody>
          <a:bodyPr anchorCtr="0" anchor="t" bIns="0" lIns="0" spcFirstLastPara="1" rIns="0" wrap="square" tIns="0">
            <a:noAutofit/>
          </a:bodyPr>
          <a:lstStyle/>
          <a:p>
            <a:pPr indent="-148844" lvl="0" marL="148844" marR="0" rtl="0" algn="l">
              <a:lnSpc>
                <a:spcPct val="130000"/>
              </a:lnSpc>
              <a:spcBef>
                <a:spcPts val="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8 tuần, 4–5 tuần là phân tích nghiệp vụ</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Đội 8 người: PM, BA, UI/UX, 2 APP, 2 BE, Tester</a:t>
            </a:r>
            <a:endParaRPr i="0" sz="1200" u="none" cap="none" strike="noStrike">
              <a:solidFill>
                <a:schemeClr val="lt1"/>
              </a:solidFill>
              <a:latin typeface="Be Vietnam Pro"/>
              <a:ea typeface="Be Vietnam Pro"/>
              <a:cs typeface="Be Vietnam Pro"/>
              <a:sym typeface="Be Vietnam Pro"/>
            </a:endParaRPr>
          </a:p>
          <a:p>
            <a:pPr indent="-148844" lvl="0" marL="148844" marR="0" rtl="0" algn="l">
              <a:lnSpc>
                <a:spcPct val="130000"/>
              </a:lnSpc>
              <a:spcBef>
                <a:spcPts val="600"/>
              </a:spcBef>
              <a:spcAft>
                <a:spcPts val="600"/>
              </a:spcAft>
              <a:buClr>
                <a:srgbClr val="E7ECF8"/>
              </a:buClr>
              <a:buSzPts val="1200"/>
              <a:buFont typeface="Be Vietnam Pro"/>
              <a:buChar char="•"/>
            </a:pPr>
            <a:r>
              <a:rPr i="0" lang="en-US" sz="1200" u="none" cap="none" strike="noStrike">
                <a:solidFill>
                  <a:srgbClr val="E7ECF8"/>
                </a:solidFill>
                <a:latin typeface="Be Vietnam Pro"/>
                <a:ea typeface="Be Vietnam Pro"/>
                <a:cs typeface="Be Vietnam Pro"/>
                <a:sym typeface="Be Vietnam Pro"/>
              </a:rPr>
              <a:t>Phát triển web, giao theo SaaS</a:t>
            </a:r>
            <a:endParaRPr i="0" sz="1200" u="none" cap="none" strike="noStrike">
              <a:solidFill>
                <a:schemeClr val="lt1"/>
              </a:solidFill>
              <a:latin typeface="Be Vietnam Pro"/>
              <a:ea typeface="Be Vietnam Pro"/>
              <a:cs typeface="Be Vietnam Pro"/>
              <a:sym typeface="Be Vietnam Pro"/>
            </a:endParaRPr>
          </a:p>
        </p:txBody>
      </p:sp>
      <p:sp>
        <p:nvSpPr>
          <p:cNvPr id="314" name="Google Shape;314;p16"/>
          <p:cNvSpPr/>
          <p:nvPr/>
        </p:nvSpPr>
        <p:spPr>
          <a:xfrm>
            <a:off x="812800" y="4546600"/>
            <a:ext cx="10884000" cy="279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400"/>
              <a:buFont typeface="Inter"/>
              <a:buNone/>
            </a:pPr>
            <a:r>
              <a:rPr i="0" lang="en-US" sz="1400" u="none" cap="none" strike="noStrike">
                <a:solidFill>
                  <a:srgbClr val="A7B1C9"/>
                </a:solidFill>
                <a:latin typeface="Be Vietnam Pro"/>
                <a:ea typeface="Be Vietnam Pro"/>
                <a:cs typeface="Be Vietnam Pro"/>
                <a:sym typeface="Be Vietnam Pro"/>
              </a:rPr>
              <a:t>Phần xác thực on-chain và ví giữ hộ dựa vào Circle và Alchemy, nên PW tập trung vào nghiệp vụ, không xây lại hạ tầng.</a:t>
            </a:r>
            <a:endParaRPr i="0" sz="1400" u="none" cap="none" strike="noStrike">
              <a:solidFill>
                <a:schemeClr val="lt1"/>
              </a:solidFill>
              <a:latin typeface="Be Vietnam Pro"/>
              <a:ea typeface="Be Vietnam Pro"/>
              <a:cs typeface="Be Vietnam Pro"/>
              <a:sym typeface="Be Vietnam Pro"/>
            </a:endParaRPr>
          </a:p>
        </p:txBody>
      </p:sp>
      <p:sp>
        <p:nvSpPr>
          <p:cNvPr id="315" name="Google Shape;315;p1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Phạm vi · 12</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220"/>
        </a:solidFill>
      </p:bgPr>
    </p:bg>
    <p:spTree>
      <p:nvGrpSpPr>
        <p:cNvPr id="320" name="Shape 320"/>
        <p:cNvGrpSpPr/>
        <p:nvPr/>
      </p:nvGrpSpPr>
      <p:grpSpPr>
        <a:xfrm>
          <a:off x="0" y="0"/>
          <a:ext cx="0" cy="0"/>
          <a:chOff x="0" y="0"/>
          <a:chExt cx="0" cy="0"/>
        </a:xfrm>
      </p:grpSpPr>
      <p:sp>
        <p:nvSpPr>
          <p:cNvPr id="321" name="Google Shape;321;p17"/>
          <p:cNvSpPr/>
          <p:nvPr/>
        </p:nvSpPr>
        <p:spPr>
          <a:xfrm>
            <a:off x="812800" y="81280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7ECF8"/>
              </a:buClr>
              <a:buSzPts val="3200"/>
              <a:buFont typeface="Space Grotesk"/>
              <a:buNone/>
            </a:pPr>
            <a:r>
              <a:rPr b="1" i="0" lang="en-US" sz="3200" u="none" cap="none" strike="noStrike">
                <a:solidFill>
                  <a:srgbClr val="E7ECF8"/>
                </a:solidFill>
                <a:latin typeface="Be Vietnam Pro"/>
                <a:ea typeface="Be Vietnam Pro"/>
                <a:cs typeface="Be Vietnam Pro"/>
                <a:sym typeface="Be Vietnam Pro"/>
              </a:rPr>
              <a:t>Bốn đầu ra theo yêu cầu đề bài</a:t>
            </a:r>
            <a:endParaRPr i="0" sz="3200" u="none" cap="none" strike="noStrike">
              <a:solidFill>
                <a:schemeClr val="lt1"/>
              </a:solidFill>
              <a:latin typeface="Be Vietnam Pro"/>
              <a:ea typeface="Be Vietnam Pro"/>
              <a:cs typeface="Be Vietnam Pro"/>
              <a:sym typeface="Be Vietnam Pro"/>
            </a:endParaRPr>
          </a:p>
        </p:txBody>
      </p:sp>
      <p:sp>
        <p:nvSpPr>
          <p:cNvPr id="322" name="Google Shape;322;p17"/>
          <p:cNvSpPr/>
          <p:nvPr/>
        </p:nvSpPr>
        <p:spPr>
          <a:xfrm>
            <a:off x="815975" y="1517005"/>
            <a:ext cx="2540000" cy="2198241"/>
          </a:xfrm>
          <a:prstGeom prst="roundRect">
            <a:avLst>
              <a:gd fmla="val 505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p:nvPr/>
        </p:nvSpPr>
        <p:spPr>
          <a:xfrm>
            <a:off x="1022350" y="1723380"/>
            <a:ext cx="2191068"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BRD và SRS</a:t>
            </a:r>
            <a:endParaRPr i="0" sz="1600" u="none" cap="none" strike="noStrike">
              <a:solidFill>
                <a:schemeClr val="lt1"/>
              </a:solidFill>
              <a:latin typeface="Be Vietnam Pro"/>
              <a:ea typeface="Be Vietnam Pro"/>
              <a:cs typeface="Be Vietnam Pro"/>
              <a:sym typeface="Be Vietnam Pro"/>
            </a:endParaRPr>
          </a:p>
        </p:txBody>
      </p:sp>
      <p:sp>
        <p:nvSpPr>
          <p:cNvPr id="324" name="Google Shape;324;p17"/>
          <p:cNvSpPr/>
          <p:nvPr/>
        </p:nvSpPr>
        <p:spPr>
          <a:xfrm>
            <a:off x="1022350" y="2043410"/>
            <a:ext cx="2191068"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7ECF8"/>
              </a:buClr>
              <a:buSzPts val="3600"/>
              <a:buFont typeface="Space Grotesk"/>
              <a:buNone/>
            </a:pPr>
            <a:r>
              <a:rPr b="1" i="0" lang="en-US" sz="3600" u="none" cap="none" strike="noStrike">
                <a:solidFill>
                  <a:srgbClr val="E7ECF8"/>
                </a:solidFill>
                <a:latin typeface="Be Vietnam Pro"/>
                <a:ea typeface="Be Vietnam Pro"/>
                <a:cs typeface="Be Vietnam Pro"/>
                <a:sym typeface="Be Vietnam Pro"/>
              </a:rPr>
              <a:t>33 + 10</a:t>
            </a:r>
            <a:endParaRPr i="0" sz="3600" u="none" cap="none" strike="noStrike">
              <a:solidFill>
                <a:schemeClr val="lt1"/>
              </a:solidFill>
              <a:latin typeface="Be Vietnam Pro"/>
              <a:ea typeface="Be Vietnam Pro"/>
              <a:cs typeface="Be Vietnam Pro"/>
              <a:sym typeface="Be Vietnam Pro"/>
            </a:endParaRPr>
          </a:p>
        </p:txBody>
      </p:sp>
      <p:sp>
        <p:nvSpPr>
          <p:cNvPr id="325" name="Google Shape;325;p17"/>
          <p:cNvSpPr/>
          <p:nvPr/>
        </p:nvSpPr>
        <p:spPr>
          <a:xfrm>
            <a:off x="1022350" y="2576810"/>
            <a:ext cx="2191068" cy="45462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7ECF8"/>
              </a:buClr>
              <a:buSzPts val="1300"/>
              <a:buFont typeface="Inter"/>
              <a:buNone/>
            </a:pPr>
            <a:r>
              <a:rPr i="0" lang="en-US" sz="1300" u="none" cap="none" strike="noStrike">
                <a:solidFill>
                  <a:srgbClr val="E7ECF8"/>
                </a:solidFill>
                <a:latin typeface="Be Vietnam Pro"/>
                <a:ea typeface="Be Vietnam Pro"/>
                <a:cs typeface="Be Vietnam Pro"/>
                <a:sym typeface="Be Vietnam Pro"/>
              </a:rPr>
              <a:t>yêu cầu chức năng và phi chức năng</a:t>
            </a:r>
            <a:endParaRPr i="0" sz="1300" u="none" cap="none" strike="noStrike">
              <a:solidFill>
                <a:schemeClr val="lt1"/>
              </a:solidFill>
              <a:latin typeface="Be Vietnam Pro"/>
              <a:ea typeface="Be Vietnam Pro"/>
              <a:cs typeface="Be Vietnam Pro"/>
              <a:sym typeface="Be Vietnam Pro"/>
            </a:endParaRPr>
          </a:p>
        </p:txBody>
      </p:sp>
      <p:sp>
        <p:nvSpPr>
          <p:cNvPr id="326" name="Google Shape;326;p17"/>
          <p:cNvSpPr/>
          <p:nvPr/>
        </p:nvSpPr>
        <p:spPr>
          <a:xfrm>
            <a:off x="1022350" y="3082230"/>
            <a:ext cx="2191068"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Quy tắc nghiệp vụ về giá, điểm thưởng, blockchain</a:t>
            </a:r>
            <a:endParaRPr i="0" sz="1200" u="none" cap="none" strike="noStrike">
              <a:solidFill>
                <a:schemeClr val="lt1"/>
              </a:solidFill>
              <a:latin typeface="Be Vietnam Pro"/>
              <a:ea typeface="Be Vietnam Pro"/>
              <a:cs typeface="Be Vietnam Pro"/>
              <a:sym typeface="Be Vietnam Pro"/>
            </a:endParaRPr>
          </a:p>
        </p:txBody>
      </p:sp>
      <p:sp>
        <p:nvSpPr>
          <p:cNvPr id="327" name="Google Shape;327;p17"/>
          <p:cNvSpPr/>
          <p:nvPr/>
        </p:nvSpPr>
        <p:spPr>
          <a:xfrm>
            <a:off x="3489325" y="1517005"/>
            <a:ext cx="2540000" cy="2198241"/>
          </a:xfrm>
          <a:prstGeom prst="roundRect">
            <a:avLst>
              <a:gd fmla="val 505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
          <p:cNvSpPr/>
          <p:nvPr/>
        </p:nvSpPr>
        <p:spPr>
          <a:xfrm>
            <a:off x="3695700" y="1723380"/>
            <a:ext cx="2191068"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5DFA4"/>
              </a:buClr>
              <a:buSzPts val="1600"/>
              <a:buFont typeface="Space Grotesk"/>
              <a:buNone/>
            </a:pPr>
            <a:r>
              <a:rPr b="1" i="0" lang="en-US" sz="1600" u="none" cap="none" strike="noStrike">
                <a:solidFill>
                  <a:srgbClr val="45DFA4"/>
                </a:solidFill>
                <a:latin typeface="Be Vietnam Pro"/>
                <a:ea typeface="Be Vietnam Pro"/>
                <a:cs typeface="Be Vietnam Pro"/>
                <a:sym typeface="Be Vietnam Pro"/>
              </a:rPr>
              <a:t>Sơ đồ To-be</a:t>
            </a:r>
            <a:endParaRPr i="0" sz="1600" u="none" cap="none" strike="noStrike">
              <a:solidFill>
                <a:schemeClr val="lt1"/>
              </a:solidFill>
              <a:latin typeface="Be Vietnam Pro"/>
              <a:ea typeface="Be Vietnam Pro"/>
              <a:cs typeface="Be Vietnam Pro"/>
              <a:sym typeface="Be Vietnam Pro"/>
            </a:endParaRPr>
          </a:p>
        </p:txBody>
      </p:sp>
      <p:sp>
        <p:nvSpPr>
          <p:cNvPr id="329" name="Google Shape;329;p17"/>
          <p:cNvSpPr/>
          <p:nvPr/>
        </p:nvSpPr>
        <p:spPr>
          <a:xfrm>
            <a:off x="3695700" y="2043410"/>
            <a:ext cx="2191068"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7ECF8"/>
              </a:buClr>
              <a:buSzPts val="3600"/>
              <a:buFont typeface="Space Grotesk"/>
              <a:buNone/>
            </a:pPr>
            <a:r>
              <a:rPr b="1" i="0" lang="en-US" sz="3600" u="none" cap="none" strike="noStrike">
                <a:solidFill>
                  <a:srgbClr val="E7ECF8"/>
                </a:solidFill>
                <a:latin typeface="Be Vietnam Pro"/>
                <a:ea typeface="Be Vietnam Pro"/>
                <a:cs typeface="Be Vietnam Pro"/>
                <a:sym typeface="Be Vietnam Pro"/>
              </a:rPr>
              <a:t>10</a:t>
            </a:r>
            <a:endParaRPr i="0" sz="3600" u="none" cap="none" strike="noStrike">
              <a:solidFill>
                <a:schemeClr val="lt1"/>
              </a:solidFill>
              <a:latin typeface="Be Vietnam Pro"/>
              <a:ea typeface="Be Vietnam Pro"/>
              <a:cs typeface="Be Vietnam Pro"/>
              <a:sym typeface="Be Vietnam Pro"/>
            </a:endParaRPr>
          </a:p>
        </p:txBody>
      </p:sp>
      <p:sp>
        <p:nvSpPr>
          <p:cNvPr id="330" name="Google Shape;330;p17"/>
          <p:cNvSpPr/>
          <p:nvPr/>
        </p:nvSpPr>
        <p:spPr>
          <a:xfrm>
            <a:off x="3695700" y="2576810"/>
            <a:ext cx="2191068"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7ECF8"/>
              </a:buClr>
              <a:buSzPts val="1300"/>
              <a:buFont typeface="Inter"/>
              <a:buNone/>
            </a:pPr>
            <a:r>
              <a:rPr i="0" lang="en-US" sz="1300" u="none" cap="none" strike="noStrike">
                <a:solidFill>
                  <a:srgbClr val="E7ECF8"/>
                </a:solidFill>
                <a:latin typeface="Be Vietnam Pro"/>
                <a:ea typeface="Be Vietnam Pro"/>
                <a:cs typeface="Be Vietnam Pro"/>
                <a:sym typeface="Be Vietnam Pro"/>
              </a:rPr>
              <a:t>sơ đồ BPMN, cộng As-Is</a:t>
            </a:r>
            <a:endParaRPr i="0" sz="1300" u="none" cap="none" strike="noStrike">
              <a:solidFill>
                <a:schemeClr val="lt1"/>
              </a:solidFill>
              <a:latin typeface="Be Vietnam Pro"/>
              <a:ea typeface="Be Vietnam Pro"/>
              <a:cs typeface="Be Vietnam Pro"/>
              <a:sym typeface="Be Vietnam Pro"/>
            </a:endParaRPr>
          </a:p>
        </p:txBody>
      </p:sp>
      <p:sp>
        <p:nvSpPr>
          <p:cNvPr id="331" name="Google Shape;331;p17"/>
          <p:cNvSpPr/>
          <p:nvPr/>
        </p:nvSpPr>
        <p:spPr>
          <a:xfrm>
            <a:off x="3695700" y="2867620"/>
            <a:ext cx="2191068"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Xác thực truyền thống và quy trình số hoá qua NFT</a:t>
            </a:r>
            <a:endParaRPr i="0" sz="1200" u="none" cap="none" strike="noStrike">
              <a:solidFill>
                <a:schemeClr val="lt1"/>
              </a:solidFill>
              <a:latin typeface="Be Vietnam Pro"/>
              <a:ea typeface="Be Vietnam Pro"/>
              <a:cs typeface="Be Vietnam Pro"/>
              <a:sym typeface="Be Vietnam Pro"/>
            </a:endParaRPr>
          </a:p>
        </p:txBody>
      </p:sp>
      <p:sp>
        <p:nvSpPr>
          <p:cNvPr id="332" name="Google Shape;332;p17"/>
          <p:cNvSpPr/>
          <p:nvPr/>
        </p:nvSpPr>
        <p:spPr>
          <a:xfrm>
            <a:off x="6162675" y="1517005"/>
            <a:ext cx="2540000" cy="2198241"/>
          </a:xfrm>
          <a:prstGeom prst="roundRect">
            <a:avLst>
              <a:gd fmla="val 505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6369050" y="1723380"/>
            <a:ext cx="2191068"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5B94A"/>
              </a:buClr>
              <a:buSzPts val="1600"/>
              <a:buFont typeface="Space Grotesk"/>
              <a:buNone/>
            </a:pPr>
            <a:r>
              <a:rPr b="1" i="0" lang="en-US" sz="1600" u="none" cap="none" strike="noStrike">
                <a:solidFill>
                  <a:srgbClr val="F5B94A"/>
                </a:solidFill>
                <a:latin typeface="Be Vietnam Pro"/>
                <a:ea typeface="Be Vietnam Pro"/>
                <a:cs typeface="Be Vietnam Pro"/>
                <a:sym typeface="Be Vietnam Pro"/>
              </a:rPr>
              <a:t>Mockup</a:t>
            </a:r>
            <a:endParaRPr i="0" sz="1600" u="none" cap="none" strike="noStrike">
              <a:solidFill>
                <a:schemeClr val="lt1"/>
              </a:solidFill>
              <a:latin typeface="Be Vietnam Pro"/>
              <a:ea typeface="Be Vietnam Pro"/>
              <a:cs typeface="Be Vietnam Pro"/>
              <a:sym typeface="Be Vietnam Pro"/>
            </a:endParaRPr>
          </a:p>
        </p:txBody>
      </p:sp>
      <p:sp>
        <p:nvSpPr>
          <p:cNvPr id="334" name="Google Shape;334;p17"/>
          <p:cNvSpPr/>
          <p:nvPr/>
        </p:nvSpPr>
        <p:spPr>
          <a:xfrm>
            <a:off x="6369050" y="2043410"/>
            <a:ext cx="2191068"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7ECF8"/>
              </a:buClr>
              <a:buSzPts val="3600"/>
              <a:buFont typeface="Space Grotesk"/>
              <a:buNone/>
            </a:pPr>
            <a:r>
              <a:rPr b="1" i="0" lang="en-US" sz="3600" u="none" cap="none" strike="noStrike">
                <a:solidFill>
                  <a:srgbClr val="E7ECF8"/>
                </a:solidFill>
                <a:latin typeface="Be Vietnam Pro"/>
                <a:ea typeface="Be Vietnam Pro"/>
                <a:cs typeface="Be Vietnam Pro"/>
                <a:sym typeface="Be Vietnam Pro"/>
              </a:rPr>
              <a:t>40</a:t>
            </a:r>
            <a:endParaRPr i="0" sz="3600" u="none" cap="none" strike="noStrike">
              <a:solidFill>
                <a:schemeClr val="lt1"/>
              </a:solidFill>
              <a:latin typeface="Be Vietnam Pro"/>
              <a:ea typeface="Be Vietnam Pro"/>
              <a:cs typeface="Be Vietnam Pro"/>
              <a:sym typeface="Be Vietnam Pro"/>
            </a:endParaRPr>
          </a:p>
        </p:txBody>
      </p:sp>
      <p:sp>
        <p:nvSpPr>
          <p:cNvPr id="335" name="Google Shape;335;p17"/>
          <p:cNvSpPr/>
          <p:nvPr/>
        </p:nvSpPr>
        <p:spPr>
          <a:xfrm>
            <a:off x="6369050" y="2576810"/>
            <a:ext cx="2191068"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7ECF8"/>
              </a:buClr>
              <a:buSzPts val="1300"/>
              <a:buFont typeface="Inter"/>
              <a:buNone/>
            </a:pPr>
            <a:r>
              <a:rPr i="0" lang="en-US" sz="1300" u="none" cap="none" strike="noStrike">
                <a:solidFill>
                  <a:srgbClr val="E7ECF8"/>
                </a:solidFill>
                <a:latin typeface="Be Vietnam Pro"/>
                <a:ea typeface="Be Vietnam Pro"/>
                <a:cs typeface="Be Vietnam Pro"/>
                <a:sym typeface="Be Vietnam Pro"/>
              </a:rPr>
              <a:t>màn hình Figma</a:t>
            </a:r>
            <a:endParaRPr i="0" sz="1300" u="none" cap="none" strike="noStrike">
              <a:solidFill>
                <a:schemeClr val="lt1"/>
              </a:solidFill>
              <a:latin typeface="Be Vietnam Pro"/>
              <a:ea typeface="Be Vietnam Pro"/>
              <a:cs typeface="Be Vietnam Pro"/>
              <a:sym typeface="Be Vietnam Pro"/>
            </a:endParaRPr>
          </a:p>
        </p:txBody>
      </p:sp>
      <p:sp>
        <p:nvSpPr>
          <p:cNvPr id="336" name="Google Shape;336;p17"/>
          <p:cNvSpPr/>
          <p:nvPr/>
        </p:nvSpPr>
        <p:spPr>
          <a:xfrm>
            <a:off x="6369050" y="2867620"/>
            <a:ext cx="2191068"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Dashboard doanh nghiệp, Public Directory; kèm prototype chạy được</a:t>
            </a:r>
            <a:endParaRPr i="0" sz="1200" u="none" cap="none" strike="noStrike">
              <a:solidFill>
                <a:schemeClr val="lt1"/>
              </a:solidFill>
              <a:latin typeface="Be Vietnam Pro"/>
              <a:ea typeface="Be Vietnam Pro"/>
              <a:cs typeface="Be Vietnam Pro"/>
              <a:sym typeface="Be Vietnam Pro"/>
            </a:endParaRPr>
          </a:p>
        </p:txBody>
      </p:sp>
      <p:sp>
        <p:nvSpPr>
          <p:cNvPr id="337" name="Google Shape;337;p17"/>
          <p:cNvSpPr/>
          <p:nvPr/>
        </p:nvSpPr>
        <p:spPr>
          <a:xfrm>
            <a:off x="8836025" y="1517005"/>
            <a:ext cx="2540000" cy="2198241"/>
          </a:xfrm>
          <a:prstGeom prst="roundRect">
            <a:avLst>
              <a:gd fmla="val 5055" name="adj"/>
            </a:avLst>
          </a:prstGeom>
          <a:solidFill>
            <a:srgbClr val="1B2440"/>
          </a:solidFill>
          <a:ln cap="flat" cmpd="sng" w="9525">
            <a:solidFill>
              <a:srgbClr val="2A35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a:off x="9042400" y="1723380"/>
            <a:ext cx="2191068"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6C9CFF"/>
              </a:buClr>
              <a:buSzPts val="1600"/>
              <a:buFont typeface="Space Grotesk"/>
              <a:buNone/>
            </a:pPr>
            <a:r>
              <a:rPr b="1" i="0" lang="en-US" sz="1600" u="none" cap="none" strike="noStrike">
                <a:solidFill>
                  <a:srgbClr val="6C9CFF"/>
                </a:solidFill>
                <a:latin typeface="Be Vietnam Pro"/>
                <a:ea typeface="Be Vietnam Pro"/>
                <a:cs typeface="Be Vietnam Pro"/>
                <a:sym typeface="Be Vietnam Pro"/>
              </a:rPr>
              <a:t>UAT Checklist</a:t>
            </a:r>
            <a:endParaRPr i="0" sz="1600" u="none" cap="none" strike="noStrike">
              <a:solidFill>
                <a:schemeClr val="lt1"/>
              </a:solidFill>
              <a:latin typeface="Be Vietnam Pro"/>
              <a:ea typeface="Be Vietnam Pro"/>
              <a:cs typeface="Be Vietnam Pro"/>
              <a:sym typeface="Be Vietnam Pro"/>
            </a:endParaRPr>
          </a:p>
        </p:txBody>
      </p:sp>
      <p:sp>
        <p:nvSpPr>
          <p:cNvPr id="339" name="Google Shape;339;p17"/>
          <p:cNvSpPr/>
          <p:nvPr/>
        </p:nvSpPr>
        <p:spPr>
          <a:xfrm>
            <a:off x="9042400" y="2043410"/>
            <a:ext cx="2191068" cy="482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7ECF8"/>
              </a:buClr>
              <a:buSzPts val="3600"/>
              <a:buFont typeface="Space Grotesk"/>
              <a:buNone/>
            </a:pPr>
            <a:r>
              <a:rPr b="1" i="0" lang="en-US" sz="3600" u="none" cap="none" strike="noStrike">
                <a:solidFill>
                  <a:srgbClr val="E7ECF8"/>
                </a:solidFill>
                <a:latin typeface="Be Vietnam Pro"/>
                <a:ea typeface="Be Vietnam Pro"/>
                <a:cs typeface="Be Vietnam Pro"/>
                <a:sym typeface="Be Vietnam Pro"/>
              </a:rPr>
              <a:t>121</a:t>
            </a:r>
            <a:endParaRPr i="0" sz="3600" u="none" cap="none" strike="noStrike">
              <a:solidFill>
                <a:schemeClr val="lt1"/>
              </a:solidFill>
              <a:latin typeface="Be Vietnam Pro"/>
              <a:ea typeface="Be Vietnam Pro"/>
              <a:cs typeface="Be Vietnam Pro"/>
              <a:sym typeface="Be Vietnam Pro"/>
            </a:endParaRPr>
          </a:p>
        </p:txBody>
      </p:sp>
      <p:sp>
        <p:nvSpPr>
          <p:cNvPr id="340" name="Google Shape;340;p17"/>
          <p:cNvSpPr/>
          <p:nvPr/>
        </p:nvSpPr>
        <p:spPr>
          <a:xfrm>
            <a:off x="9042400" y="2576810"/>
            <a:ext cx="2191068" cy="24001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E7ECF8"/>
              </a:buClr>
              <a:buSzPts val="1300"/>
              <a:buFont typeface="Inter"/>
              <a:buNone/>
            </a:pPr>
            <a:r>
              <a:rPr i="0" lang="en-US" sz="1300" u="none" cap="none" strike="noStrike">
                <a:solidFill>
                  <a:srgbClr val="E7ECF8"/>
                </a:solidFill>
                <a:latin typeface="Be Vietnam Pro"/>
                <a:ea typeface="Be Vietnam Pro"/>
                <a:cs typeface="Be Vietnam Pro"/>
                <a:sym typeface="Be Vietnam Pro"/>
              </a:rPr>
              <a:t>test case</a:t>
            </a:r>
            <a:endParaRPr i="0" sz="1300" u="none" cap="none" strike="noStrike">
              <a:solidFill>
                <a:schemeClr val="lt1"/>
              </a:solidFill>
              <a:latin typeface="Be Vietnam Pro"/>
              <a:ea typeface="Be Vietnam Pro"/>
              <a:cs typeface="Be Vietnam Pro"/>
              <a:sym typeface="Be Vietnam Pro"/>
            </a:endParaRPr>
          </a:p>
        </p:txBody>
      </p:sp>
      <p:sp>
        <p:nvSpPr>
          <p:cNvPr id="341" name="Google Shape;341;p17"/>
          <p:cNvSpPr/>
          <p:nvPr/>
        </p:nvSpPr>
        <p:spPr>
          <a:xfrm>
            <a:off x="9042400" y="2867620"/>
            <a:ext cx="2191068"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Tính điểm, chiết khấu, mint NFT</a:t>
            </a:r>
            <a:endParaRPr i="0" sz="1200" u="none" cap="none" strike="noStrike">
              <a:solidFill>
                <a:schemeClr val="lt1"/>
              </a:solidFill>
              <a:latin typeface="Be Vietnam Pro"/>
              <a:ea typeface="Be Vietnam Pro"/>
              <a:cs typeface="Be Vietnam Pro"/>
              <a:sym typeface="Be Vietnam Pro"/>
            </a:endParaRPr>
          </a:p>
        </p:txBody>
      </p:sp>
      <p:sp>
        <p:nvSpPr>
          <p:cNvPr id="342" name="Google Shape;342;p17"/>
          <p:cNvSpPr/>
          <p:nvPr/>
        </p:nvSpPr>
        <p:spPr>
          <a:xfrm>
            <a:off x="812800" y="4765080"/>
            <a:ext cx="10883392" cy="52829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7ECF8"/>
              </a:buClr>
              <a:buSzPts val="3600"/>
              <a:buFont typeface="Space Grotesk"/>
              <a:buNone/>
            </a:pPr>
            <a:r>
              <a:rPr b="1" i="0" lang="en-US" sz="3600" u="none" cap="none" strike="noStrike">
                <a:solidFill>
                  <a:srgbClr val="E7ECF8"/>
                </a:solidFill>
                <a:latin typeface="Be Vietnam Pro"/>
                <a:ea typeface="Be Vietnam Pro"/>
                <a:cs typeface="Be Vietnam Pro"/>
                <a:sym typeface="Be Vietnam Pro"/>
              </a:rPr>
              <a:t>Cảm ơn mọi người đã lắng nghe</a:t>
            </a:r>
            <a:endParaRPr i="0" sz="3600" u="none" cap="none" strike="noStrike">
              <a:solidFill>
                <a:schemeClr val="lt1"/>
              </a:solidFill>
              <a:latin typeface="Be Vietnam Pro"/>
              <a:ea typeface="Be Vietnam Pro"/>
              <a:cs typeface="Be Vietnam Pro"/>
              <a:sym typeface="Be Vietnam Pro"/>
            </a:endParaRPr>
          </a:p>
        </p:txBody>
      </p:sp>
      <p:sp>
        <p:nvSpPr>
          <p:cNvPr id="343" name="Google Shape;343;p17"/>
          <p:cNvSpPr/>
          <p:nvPr/>
        </p:nvSpPr>
        <p:spPr>
          <a:xfrm>
            <a:off x="812800" y="5521970"/>
            <a:ext cx="10883392"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5DFA4"/>
              </a:buClr>
              <a:buSzPts val="1800"/>
              <a:buFont typeface="Inter"/>
              <a:buNone/>
            </a:pPr>
            <a:r>
              <a:rPr i="0" lang="en-US" sz="1800" u="none" cap="none" strike="noStrike">
                <a:solidFill>
                  <a:srgbClr val="45DFA4"/>
                </a:solidFill>
                <a:latin typeface="Be Vietnam Pro"/>
                <a:ea typeface="Be Vietnam Pro"/>
                <a:cs typeface="Be Vietnam Pro"/>
                <a:sym typeface="Be Vietnam Pro"/>
              </a:rPr>
              <a:t>Xin mời đặt câu hỏi</a:t>
            </a:r>
            <a:endParaRPr i="0" sz="1800" u="none" cap="none" strike="noStrike">
              <a:solidFill>
                <a:schemeClr val="lt1"/>
              </a:solidFill>
              <a:latin typeface="Be Vietnam Pro"/>
              <a:ea typeface="Be Vietnam Pro"/>
              <a:cs typeface="Be Vietnam Pro"/>
              <a:sym typeface="Be Vietnam Pro"/>
            </a:endParaRPr>
          </a:p>
        </p:txBody>
      </p:sp>
      <p:sp>
        <p:nvSpPr>
          <p:cNvPr id="344" name="Google Shape;344;p1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7B1C9"/>
              </a:buClr>
              <a:buSzPts val="1200"/>
              <a:buFont typeface="Inter"/>
              <a:buNone/>
            </a:pPr>
            <a:r>
              <a:rPr i="0" lang="en-US" sz="1200" u="none" cap="none" strike="noStrike">
                <a:solidFill>
                  <a:srgbClr val="A7B1C9"/>
                </a:solidFill>
                <a:latin typeface="Be Vietnam Pro"/>
                <a:ea typeface="Be Vietnam Pro"/>
                <a:cs typeface="Be Vietnam Pro"/>
                <a:sym typeface="Be Vietnam Pro"/>
              </a:rPr>
              <a:t>PW · Báo cáo cuối khoá · Đầu ra · 13</a:t>
            </a:r>
            <a:endParaRPr i="0" sz="1200" u="none" cap="none" strike="noStrike">
              <a:solidFill>
                <a:schemeClr val="lt1"/>
              </a:solidFill>
              <a:latin typeface="Be Vietnam Pro"/>
              <a:ea typeface="Be Vietnam Pro"/>
              <a:cs typeface="Be Vietnam Pro"/>
              <a:sym typeface="Be Vietnam Pro"/>
            </a:endParaRPr>
          </a:p>
        </p:txBody>
      </p:sp>
    </p:spTree>
  </p:cSld>
  <p:clrMapOvr>
    <a:masterClrMapping/>
  </p:clrMapOvr>
</p:sld>
</file>

<file path=ppt/theme/theme1.xml><?xml version="1.0" encoding="utf-8"?>
<a:theme xmlns:a="http://schemas.openxmlformats.org/drawingml/2006/main" xmlns:r="http://schemas.openxmlformats.org/officeDocument/2006/relationships" name="PW – Báo cáo cuối khoá">
  <a:themeElements>
    <a:clrScheme name="PW – Báo cáo cuối khoá">
      <a:dk1>
        <a:srgbClr val="0D1220"/>
      </a:dk1>
      <a:lt1>
        <a:srgbClr val="E7ECF8"/>
      </a:lt1>
      <a:dk2>
        <a:srgbClr val="232836"/>
      </a:dk2>
      <a:lt2>
        <a:srgbClr val="B1B6C2"/>
      </a:lt2>
      <a:accent1>
        <a:srgbClr val="45DFA4"/>
      </a:accent1>
      <a:accent2>
        <a:srgbClr val="6C9CFF"/>
      </a:accent2>
      <a:accent3>
        <a:srgbClr val="F5B94A"/>
      </a:accent3>
      <a:accent4>
        <a:srgbClr val="27407A"/>
      </a:accent4>
      <a:accent5>
        <a:srgbClr val="A7B1C9"/>
      </a:accent5>
      <a:accent6>
        <a:srgbClr val="1B244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W – Báo cáo cuối khoá">
  <a:themeElements>
    <a:clrScheme name="PW – Báo cáo cuối khoá">
      <a:dk1>
        <a:srgbClr val="0D1220"/>
      </a:dk1>
      <a:lt1>
        <a:srgbClr val="E7ECF8"/>
      </a:lt1>
      <a:dk2>
        <a:srgbClr val="232836"/>
      </a:dk2>
      <a:lt2>
        <a:srgbClr val="B1B6C2"/>
      </a:lt2>
      <a:accent1>
        <a:srgbClr val="45DFA4"/>
      </a:accent1>
      <a:accent2>
        <a:srgbClr val="6C9CFF"/>
      </a:accent2>
      <a:accent3>
        <a:srgbClr val="F5B94A"/>
      </a:accent3>
      <a:accent4>
        <a:srgbClr val="27407A"/>
      </a:accent4>
      <a:accent5>
        <a:srgbClr val="A7B1C9"/>
      </a:accent5>
      <a:accent6>
        <a:srgbClr val="1B244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